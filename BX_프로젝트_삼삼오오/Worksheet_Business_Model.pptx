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BB20141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60" r:id="rId5"/>
    <p:sldId id="262" r:id="rId6"/>
    <p:sldId id="261" r:id="rId7"/>
    <p:sldId id="263" r:id="rId8"/>
    <p:sldId id="264" r:id="rId9"/>
    <p:sldId id="265" r:id="rId10"/>
    <p:sldId id="257" r:id="rId11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D4DF0F-1600-5B35-A42C-3E08A4D64055}" name="6135_조성윤" initials="6조" userId="S::6135@dxschool.co.kr::cee09979-8cb2-4516-9094-e4ed76f62a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2E9F7-0941-498D-BF54-06804F502C2F}" v="2439" dt="2026-04-24T08:09:36.296"/>
    <p1510:client id="{0CF7CBB2-8B9F-4BF0-AC47-911B26EABB19}" v="343" vWet="344" dt="2026-04-24T07:56:50.755"/>
    <p1510:client id="{12570905-316E-43BF-9226-DC8B2921CD46}" v="1526" dt="2026-04-24T08:08:57.618"/>
    <p1510:client id="{13226B61-B2AA-D47F-462A-42D65D07AA0B}" v="6" dt="2026-04-24T05:17:45.129"/>
    <p1510:client id="{135F769E-13F5-F8C1-EAF1-144E9BC38FD7}" v="8" dt="2026-04-24T05:19:36.707"/>
    <p1510:client id="{172FFA5D-3E3A-B46C-71A6-42E5CFF2FA04}" v="4" dt="2026-04-24T07:50:41.296"/>
    <p1510:client id="{1A772D01-000E-B3C6-2DD7-AC629C557B6A}" v="344" dt="2026-04-24T06:47:08.955"/>
    <p1510:client id="{2E3ED29C-0BF4-D36A-89AC-87920D49D01D}" v="31" dt="2026-04-24T05:22:55.726"/>
    <p1510:client id="{2E7C16C0-EB54-4C20-B499-A0D7E9CF64C5}" v="877" dt="2026-04-24T08:15:22.502"/>
    <p1510:client id="{36BFEEBB-B0B6-A309-FE62-DC1F1000DE01}" v="8" dt="2026-04-24T05:22:46.122"/>
    <p1510:client id="{3784E278-D6D0-9EF9-98DC-81CC95FADE98}" v="13" dt="2026-04-24T05:49:57.199"/>
    <p1510:client id="{3B6F964F-C789-F5BD-47E6-E428C88D5DE2}" v="52" dt="2026-04-24T05:20:17.539"/>
    <p1510:client id="{41482EC7-0960-8DAF-43C8-91AFDD8155AB}" v="9" dt="2026-04-24T05:23:42.284"/>
    <p1510:client id="{414BF52D-6E0A-4FE8-9D98-EFCE521965B5}" v="199" vWet="200" dt="2026-04-24T07:58:36.455"/>
    <p1510:client id="{47984BC6-3138-44E7-E36C-9AA686E3C0D1}" v="116" dt="2026-04-24T07:54:49.421"/>
    <p1510:client id="{47DEF8C1-358C-65B0-A464-FF504EBB184B}" v="10" dt="2026-04-24T05:19:46.774"/>
    <p1510:client id="{5EC519CF-4FC7-47FA-1681-835A0FE6B4B6}" v="6" dt="2026-04-24T05:23:10.756"/>
    <p1510:client id="{5FE94865-B00F-CA1B-17B5-CDAC3584D170}" v="14" dt="2026-04-24T05:49:09.538"/>
    <p1510:client id="{6B6AC031-0895-8C96-EFA2-A1489A5002E5}" v="31" dt="2026-04-24T06:24:07.018"/>
    <p1510:client id="{749EAE3A-8E64-456E-78A1-84F05408C432}" v="32" dt="2026-04-24T05:20:42.149"/>
    <p1510:client id="{806FEDA1-D0C1-4230-A51C-786C3EE9D6FB}" v="2143" dt="2026-04-24T08:07:56.098"/>
    <p1510:client id="{867AE5E1-6909-2B40-D8C7-400D280B60A6}" v="35" dt="2026-04-24T05:22:58.368"/>
    <p1510:client id="{8C33B4C7-32A2-4E7E-9BBF-9C6696FE2120}" v="28" vWet="29" dt="2026-04-24T07:56:51.292"/>
    <p1510:client id="{8FDBEBB8-64CE-7229-D8EA-79B55F5A373C}" v="39" dt="2026-04-24T07:11:02.191"/>
    <p1510:client id="{96584B25-2F54-D633-1F22-B76CECEA9F83}" v="136" dt="2026-04-24T06:11:16.478"/>
    <p1510:client id="{9AD01929-60B0-4C4A-8DAB-DA64F9C05872}" v="2749" dt="2026-04-24T08:06:02.566"/>
    <p1510:client id="{9B018578-6CF4-52C9-8C6C-B8FDBCA750DF}" v="61" dt="2026-04-24T08:26:03.858"/>
    <p1510:client id="{A05D57FC-8053-48EA-9540-F73075915C7F}" v="1792" dt="2026-04-24T08:26:40.243"/>
    <p1510:client id="{A06051D3-5AAB-BCCD-A1CA-76663794C307}" v="19" dt="2026-04-24T05:50:32.740"/>
    <p1510:client id="{A3473E4F-E26A-4D46-A163-E76F25C8F1B9}" v="1" dt="2026-04-24T04:45:12.788"/>
    <p1510:client id="{B275423D-7553-4D8C-92DE-A1E8F7EF3846}" v="3096" dt="2026-04-24T08:22:34.603"/>
    <p1510:client id="{B43BC750-792A-1DE8-B03F-840781D76FD3}" v="6" dt="2026-04-24T05:14:53.783"/>
    <p1510:client id="{C1A52B79-2DDE-E472-BE16-32F329175794}" v="307" dt="2026-04-24T06:19:06.735"/>
    <p1510:client id="{C2958579-0569-4304-A80F-72536D714B4A}" vWet="1" dt="2026-04-24T07:56:51.660"/>
    <p1510:client id="{C800AED3-507A-43DE-8099-1F447736ABF1}" v="172" dt="2026-04-24T08:03:27.859"/>
    <p1510:client id="{D01B2782-7407-FBDE-3463-1DF0563220E8}" v="6" dt="2026-04-24T05:15:37.167"/>
    <p1510:client id="{D115B4BC-4D05-426C-BD9F-DD50CE9AA751}" v="42" vWet="43" dt="2026-04-24T07:56:56.693"/>
    <p1510:client id="{D443D0DD-436F-3040-0A46-B1FFDA26EDB7}" v="26" dt="2026-04-24T05:25:45.507"/>
    <p1510:client id="{DBCA4EA8-2300-4561-9F36-27BACAF81951}" v="3" dt="2026-04-24T07:57:08.029"/>
    <p1510:client id="{E40C70A4-3A84-D23B-04AD-A118EBE43E6B}" v="5" dt="2026-04-24T05:16:34.538"/>
    <p1510:client id="{F1D2D0AA-6E50-1892-05B9-7DA41B846906}" v="1897" dt="2026-04-24T08:17:59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74" y="18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omments/modernComment_107_BB2014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073514-FC4B-41D4-94BE-3C7E0F1C7A45}" authorId="{D3D4DF0F-1600-5B35-A42C-3E08A4D64055}" created="2026-04-24T07:33:01.6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39441688" sldId="263"/>
      <ac:spMk id="12" creationId="{BAA8F964-788B-9090-C53F-B955D8FA0516}"/>
    </ac:deMkLst>
    <p188:txBody>
      <a:bodyPr/>
      <a:lstStyle/>
      <a:p>
        <a:r>
          <a:rPr lang="ko-KR" altLang="en-US"/>
          <a:t>유니클로는 고객의 '결정 피로도’를 낮춰주는 채널CH을 운영하고, 기술력을 통한 '신뢰 관계’ CR 를 구축하여, 반복적인 제품 구매를 이끌어낸다(RS)</a:t>
        </a:r>
      </a:p>
    </p188:txBody>
  </p188:cm>
  <p188:cm id="{16A3AAB2-19DD-4AA1-8343-BFE1AE160578}" authorId="{D3D4DF0F-1600-5B35-A42C-3E08A4D64055}" created="2026-04-24T07:53:50.11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39441688" sldId="263"/>
      <ac:graphicFrameMk id="21" creationId="{5D5FF22F-DEE4-0B0C-4DC8-F7E9177DE183}"/>
    </ac:deMkLst>
    <p188:txBody>
      <a:bodyPr/>
      <a:lstStyle/>
      <a:p>
        <a:r>
          <a:rPr lang="ko-KR" altLang="en-US"/>
          <a:t>유니클로는 도레이와의 파트너십(KP)을 통해 독자적 기술(KR)을 확보하고, 이를 범위의 경제(CS)를 활용해 다양한 제품군으로 확장합니다. 결과적으로 스마트 밸류 옵티마이저 고객들에게 '낮은 가격으로 높은 기능성'을 제공하는 선순환 구조를 완성합니다.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52044-2532-46C9-A1D3-352A5BE0255E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E2C76-71D3-4389-8DA4-3A5BD93FA8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50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조 </a:t>
            </a:r>
            <a:r>
              <a:rPr lang="ko-KR" altLang="en-US" err="1"/>
              <a:t>파이브아이즈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E2C76-71D3-4389-8DA4-3A5BD93FA8C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87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577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102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758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226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438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103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8AFE24-6CC9-CC52-839A-8FD4B0E7A4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772"/>
          <a:stretch>
            <a:fillRect/>
          </a:stretch>
        </p:blipFill>
        <p:spPr>
          <a:xfrm>
            <a:off x="183930" y="1142170"/>
            <a:ext cx="9346609" cy="457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9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56">
            <a:extLst>
              <a:ext uri="{FF2B5EF4-FFF2-40B4-BE49-F238E27FC236}">
                <a16:creationId xmlns:a16="http://schemas.microsoft.com/office/drawing/2014/main" id="{A36A8284-0690-D78F-3BB0-625251838194}"/>
              </a:ext>
            </a:extLst>
          </p:cNvPr>
          <p:cNvSpPr/>
          <p:nvPr userDrawn="1"/>
        </p:nvSpPr>
        <p:spPr>
          <a:xfrm>
            <a:off x="244112" y="458944"/>
            <a:ext cx="9524890" cy="6176986"/>
          </a:xfrm>
          <a:prstGeom prst="roundRect">
            <a:avLst>
              <a:gd name="adj" fmla="val 2613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lIns="58500" tIns="58500" rIns="58500" bIns="58500" anchor="ctr"/>
          <a:lstStyle/>
          <a:p>
            <a:pPr algn="ctr">
              <a:defRPr sz="2200">
                <a:solidFill>
                  <a:srgbClr val="FFFFFF"/>
                </a:solidFill>
                <a:latin typeface="기아 Medium"/>
                <a:ea typeface="기아 Medium"/>
                <a:cs typeface="기아 Medium"/>
                <a:sym typeface="기아 Medium"/>
              </a:defRPr>
            </a:pPr>
            <a:endParaRPr sz="1800"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6" name="모서리가 둥근 직사각형">
            <a:extLst>
              <a:ext uri="{FF2B5EF4-FFF2-40B4-BE49-F238E27FC236}">
                <a16:creationId xmlns:a16="http://schemas.microsoft.com/office/drawing/2014/main" id="{1F3176E5-0C80-B91E-265B-FF3DCD71340C}"/>
              </a:ext>
            </a:extLst>
          </p:cNvPr>
          <p:cNvSpPr/>
          <p:nvPr userDrawn="1"/>
        </p:nvSpPr>
        <p:spPr>
          <a:xfrm>
            <a:off x="2402731" y="248192"/>
            <a:ext cx="5105806" cy="418845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508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58500" tIns="58500" rIns="58500" bIns="58500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  <a:latin typeface="기아 Medium"/>
                <a:ea typeface="기아 Medium"/>
                <a:cs typeface="기아 Medium"/>
                <a:sym typeface="기아 Medium"/>
              </a:defRPr>
            </a:pPr>
            <a:endParaRPr sz="2000" b="1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모서리가 둥근 직사각형">
            <a:extLst>
              <a:ext uri="{FF2B5EF4-FFF2-40B4-BE49-F238E27FC236}">
                <a16:creationId xmlns:a16="http://schemas.microsoft.com/office/drawing/2014/main" id="{F43F6148-0CA5-7042-D35C-69293FDB1767}"/>
              </a:ext>
            </a:extLst>
          </p:cNvPr>
          <p:cNvSpPr/>
          <p:nvPr userDrawn="1"/>
        </p:nvSpPr>
        <p:spPr>
          <a:xfrm>
            <a:off x="7843428" y="533308"/>
            <a:ext cx="1818460" cy="41884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50800" cap="flat">
            <a:noFill/>
            <a:prstDash val="solid"/>
            <a:round/>
          </a:ln>
          <a:effectLst/>
        </p:spPr>
        <p:txBody>
          <a:bodyPr wrap="square" lIns="58500" tIns="58500" rIns="58500" bIns="58500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  <a:latin typeface="기아 Medium"/>
                <a:ea typeface="기아 Medium"/>
                <a:cs typeface="기아 Medium"/>
                <a:sym typeface="기아 Medium"/>
              </a:defRPr>
            </a:pPr>
            <a:r>
              <a:rPr lang="ko-KR" altLang="en-US" sz="1400" b="1">
                <a:solidFill>
                  <a:schemeClr val="tx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조명 </a:t>
            </a:r>
            <a:r>
              <a:rPr lang="en-US" altLang="ko-KR" sz="1400" b="1">
                <a:solidFill>
                  <a:schemeClr val="tx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lang="ko-KR" altLang="en-US" sz="1400" b="1">
                <a:solidFill>
                  <a:schemeClr val="tx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sz="1400" b="1">
              <a:solidFill>
                <a:schemeClr val="tx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99E6AE-FE40-9F9B-DCAE-B0587E8898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9394" y="1057530"/>
            <a:ext cx="9133489" cy="54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59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56">
            <a:extLst>
              <a:ext uri="{FF2B5EF4-FFF2-40B4-BE49-F238E27FC236}">
                <a16:creationId xmlns:a16="http://schemas.microsoft.com/office/drawing/2014/main" id="{A36A8284-0690-D78F-3BB0-625251838194}"/>
              </a:ext>
            </a:extLst>
          </p:cNvPr>
          <p:cNvSpPr/>
          <p:nvPr userDrawn="1"/>
        </p:nvSpPr>
        <p:spPr>
          <a:xfrm>
            <a:off x="244112" y="458944"/>
            <a:ext cx="9524890" cy="6176986"/>
          </a:xfrm>
          <a:prstGeom prst="roundRect">
            <a:avLst>
              <a:gd name="adj" fmla="val 2613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lIns="58500" tIns="58500" rIns="58500" bIns="58500" anchor="ctr"/>
          <a:lstStyle/>
          <a:p>
            <a:pPr algn="ctr">
              <a:defRPr sz="2200">
                <a:solidFill>
                  <a:srgbClr val="FFFFFF"/>
                </a:solidFill>
                <a:latin typeface="기아 Medium"/>
                <a:ea typeface="기아 Medium"/>
                <a:cs typeface="기아 Medium"/>
                <a:sym typeface="기아 Medium"/>
              </a:defRPr>
            </a:pPr>
            <a:endParaRPr sz="1800">
              <a:latin typeface="NanumSquare Neo OTF Regular" pitchFamily="2" charset="-127"/>
              <a:ea typeface="NanumSquare Neo OTF Regular" pitchFamily="2" charset="-127"/>
            </a:endParaRPr>
          </a:p>
        </p:txBody>
      </p:sp>
      <p:sp>
        <p:nvSpPr>
          <p:cNvPr id="6" name="모서리가 둥근 직사각형">
            <a:extLst>
              <a:ext uri="{FF2B5EF4-FFF2-40B4-BE49-F238E27FC236}">
                <a16:creationId xmlns:a16="http://schemas.microsoft.com/office/drawing/2014/main" id="{1F3176E5-0C80-B91E-265B-FF3DCD71340C}"/>
              </a:ext>
            </a:extLst>
          </p:cNvPr>
          <p:cNvSpPr/>
          <p:nvPr userDrawn="1"/>
        </p:nvSpPr>
        <p:spPr>
          <a:xfrm>
            <a:off x="2402731" y="248192"/>
            <a:ext cx="5105806" cy="418845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508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58500" tIns="58500" rIns="58500" bIns="58500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  <a:latin typeface="기아 Medium"/>
                <a:ea typeface="기아 Medium"/>
                <a:cs typeface="기아 Medium"/>
                <a:sym typeface="기아 Medium"/>
              </a:defRPr>
            </a:pPr>
            <a:endParaRPr sz="2000" b="1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99E6AE-FE40-9F9B-DCAE-B0587E8898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9394" y="1057530"/>
            <a:ext cx="9133489" cy="54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46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152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2135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9263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350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4178D-EAC8-9F47-88CE-4CC2E7A5B459}" type="datetimeFigureOut">
              <a:rPr kumimoji="1" lang="ko-KR" altLang="en-US" smtClean="0"/>
              <a:t>2026-04-24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B3672-EAE4-6D4A-89DE-3F8E538920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854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3" r:id="rId7"/>
    <p:sldLayoutId id="2147483667" r:id="rId8"/>
    <p:sldLayoutId id="2147483672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BB201418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2929C94D-3732-56BB-A928-DFCFFAD3F638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94A39F6-C239-0CAC-29EB-5E170C92A9F3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C1BA878-DF8E-BF42-4516-15BD48DB5178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1EFAEE9-2375-32BD-653F-827BF1AB4344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ACE1058-FEDC-27C1-3911-CB44A0B80D6A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F146A93-2893-8852-3519-7CAFA030A916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0D94DAE-4DB8-F3F6-932F-BBFDA8CF69F8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91F7D5-FDEE-4FDC-F3A2-555450048A25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FE3595F-450B-51A3-915F-68C499FB2C3D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93A47CC-1261-391C-A976-8CABE4DB297E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E649FB-C04B-2B7A-78C6-04000042FFC6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603988A-8084-F715-B267-EE2292560D96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46CE1E9-60FD-5D99-34E4-4186A4D069A0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E449F24-C4ED-CF4E-A070-E5EE441E029F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9D680E-1393-D54A-79C7-9203650A1011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D11658E-16A0-7AA2-B2F0-9789F357A679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5D244C6-BF87-C43D-DA0B-2549D612C57D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C36FD6B-5027-18CD-45F2-4CCC1A6B9131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B551B5E-B466-6D7B-5261-BBD91ABC71D5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FCD75C-CEC9-49F7-9A8E-49E1F3C4B00F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4D588B4-0169-FE7C-E9CE-E608C41B4D82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237506B-232A-4472-A094-8C5EBC6CBB48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4360CD-24FC-6D7E-1A82-A491E1D7FB87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71C5F8F-7A82-CDB3-58F3-313B87607C5D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57D40E8-AD14-8393-BC25-9CB76D3E7D87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CFA65C9-8A6E-B89A-932A-2A85C2B81169}"/>
              </a:ext>
            </a:extLst>
          </p:cNvPr>
          <p:cNvSpPr/>
          <p:nvPr/>
        </p:nvSpPr>
        <p:spPr>
          <a:xfrm>
            <a:off x="1829375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29463F5-3780-44F6-E85C-0332D1DE81C2}"/>
              </a:ext>
            </a:extLst>
          </p:cNvPr>
          <p:cNvSpPr/>
          <p:nvPr/>
        </p:nvSpPr>
        <p:spPr>
          <a:xfrm>
            <a:off x="5310921" y="536179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1A36AF6-BACE-FE78-E82E-1F77779B8C74}"/>
              </a:ext>
            </a:extLst>
          </p:cNvPr>
          <p:cNvSpPr/>
          <p:nvPr/>
        </p:nvSpPr>
        <p:spPr>
          <a:xfrm>
            <a:off x="1709580" y="533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97391B1-F35B-DB6B-2662-7EE7AF38DBE2}"/>
              </a:ext>
            </a:extLst>
          </p:cNvPr>
          <p:cNvSpPr/>
          <p:nvPr/>
        </p:nvSpPr>
        <p:spPr>
          <a:xfrm>
            <a:off x="5503965" y="496451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3117D14-DFC6-A56A-C596-6B932E948E9F}"/>
              </a:ext>
            </a:extLst>
          </p:cNvPr>
          <p:cNvSpPr/>
          <p:nvPr/>
        </p:nvSpPr>
        <p:spPr>
          <a:xfrm>
            <a:off x="1511012" y="508658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16D4CFA-71B3-6449-99B3-6A62BE64A629}"/>
              </a:ext>
            </a:extLst>
          </p:cNvPr>
          <p:cNvSpPr/>
          <p:nvPr/>
        </p:nvSpPr>
        <p:spPr>
          <a:xfrm>
            <a:off x="1624391" y="4996603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B37E-4FDA-E822-5B89-6605A82EC6F8}"/>
              </a:ext>
            </a:extLst>
          </p:cNvPr>
          <p:cNvSpPr/>
          <p:nvPr/>
        </p:nvSpPr>
        <p:spPr>
          <a:xfrm>
            <a:off x="2372806" y="3980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2CBEA58-7AED-9B47-F984-E0090B81C2BC}"/>
              </a:ext>
            </a:extLst>
          </p:cNvPr>
          <p:cNvSpPr/>
          <p:nvPr/>
        </p:nvSpPr>
        <p:spPr>
          <a:xfrm>
            <a:off x="698946" y="445526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E36DF79-1DAA-8CDB-47D5-DC584AFC095C}"/>
              </a:ext>
            </a:extLst>
          </p:cNvPr>
          <p:cNvSpPr/>
          <p:nvPr/>
        </p:nvSpPr>
        <p:spPr>
          <a:xfrm>
            <a:off x="4515464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E4C4C20-E1B9-DF9A-30F2-A83F1909441A}"/>
              </a:ext>
            </a:extLst>
          </p:cNvPr>
          <p:cNvSpPr/>
          <p:nvPr/>
        </p:nvSpPr>
        <p:spPr>
          <a:xfrm>
            <a:off x="2556987" y="27753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C734DE4-E534-A303-9771-4B0B81B9A1E4}"/>
              </a:ext>
            </a:extLst>
          </p:cNvPr>
          <p:cNvSpPr/>
          <p:nvPr/>
        </p:nvSpPr>
        <p:spPr>
          <a:xfrm>
            <a:off x="1565185" y="503696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EBC104E-894E-5059-6164-6ABE28E12F9A}"/>
              </a:ext>
            </a:extLst>
          </p:cNvPr>
          <p:cNvSpPr/>
          <p:nvPr/>
        </p:nvSpPr>
        <p:spPr>
          <a:xfrm>
            <a:off x="5635123" y="442947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3B93310-4E16-8F95-59F8-8CCB6DF3B3B3}"/>
              </a:ext>
            </a:extLst>
          </p:cNvPr>
          <p:cNvSpPr/>
          <p:nvPr/>
        </p:nvSpPr>
        <p:spPr>
          <a:xfrm>
            <a:off x="686187" y="526590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68B8DF9-1442-C422-2C54-5D957ABB1FB6}"/>
              </a:ext>
            </a:extLst>
          </p:cNvPr>
          <p:cNvSpPr/>
          <p:nvPr/>
        </p:nvSpPr>
        <p:spPr>
          <a:xfrm>
            <a:off x="5451611" y="458519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CFF25F1-A007-F164-3E84-1834C7F581AB}"/>
              </a:ext>
            </a:extLst>
          </p:cNvPr>
          <p:cNvSpPr/>
          <p:nvPr/>
        </p:nvSpPr>
        <p:spPr>
          <a:xfrm>
            <a:off x="5116796" y="403460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942F7F3-65BD-2345-C9A5-3091A9CF7C97}"/>
              </a:ext>
            </a:extLst>
          </p:cNvPr>
          <p:cNvSpPr/>
          <p:nvPr/>
        </p:nvSpPr>
        <p:spPr>
          <a:xfrm>
            <a:off x="1676119" y="401242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CFB018C-E22D-D626-B34C-EAA8EAA42C2E}"/>
              </a:ext>
            </a:extLst>
          </p:cNvPr>
          <p:cNvSpPr/>
          <p:nvPr/>
        </p:nvSpPr>
        <p:spPr>
          <a:xfrm>
            <a:off x="1737610" y="351360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5619724-B2D8-50E1-8E30-74DF443BC8BE}"/>
              </a:ext>
            </a:extLst>
          </p:cNvPr>
          <p:cNvSpPr/>
          <p:nvPr/>
        </p:nvSpPr>
        <p:spPr>
          <a:xfrm>
            <a:off x="1466303" y="268495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911B95D-E799-8D96-3738-3830576F2C39}"/>
              </a:ext>
            </a:extLst>
          </p:cNvPr>
          <p:cNvSpPr/>
          <p:nvPr/>
        </p:nvSpPr>
        <p:spPr>
          <a:xfrm>
            <a:off x="5283270" y="262995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58F144D-C2FB-6EDB-1E5F-F663F4ECCCF3}"/>
              </a:ext>
            </a:extLst>
          </p:cNvPr>
          <p:cNvSpPr/>
          <p:nvPr/>
        </p:nvSpPr>
        <p:spPr>
          <a:xfrm>
            <a:off x="5323965" y="230432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74F0284-4929-7E80-07DC-3F62BC8ED5F5}"/>
              </a:ext>
            </a:extLst>
          </p:cNvPr>
          <p:cNvSpPr/>
          <p:nvPr/>
        </p:nvSpPr>
        <p:spPr>
          <a:xfrm>
            <a:off x="1409267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7A8DAEE-9ACB-AA5D-5082-F3A2EBFABC73}"/>
              </a:ext>
            </a:extLst>
          </p:cNvPr>
          <p:cNvSpPr/>
          <p:nvPr/>
        </p:nvSpPr>
        <p:spPr>
          <a:xfrm>
            <a:off x="4400381" y="317612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76D40E0-F746-53EB-727E-6128E20AD5BA}"/>
              </a:ext>
            </a:extLst>
          </p:cNvPr>
          <p:cNvSpPr/>
          <p:nvPr/>
        </p:nvSpPr>
        <p:spPr>
          <a:xfrm>
            <a:off x="5362186" y="401242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6B137C66-EFB0-3E34-0BD0-ECE7040953EB}"/>
              </a:ext>
            </a:extLst>
          </p:cNvPr>
          <p:cNvSpPr/>
          <p:nvPr/>
        </p:nvSpPr>
        <p:spPr>
          <a:xfrm>
            <a:off x="1046034" y="274149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B90702B-5607-DC45-2783-167170271745}"/>
              </a:ext>
            </a:extLst>
          </p:cNvPr>
          <p:cNvSpPr/>
          <p:nvPr/>
        </p:nvSpPr>
        <p:spPr>
          <a:xfrm>
            <a:off x="5323965" y="221432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B141430-F7B1-7258-1DD3-66962A7D665F}"/>
              </a:ext>
            </a:extLst>
          </p:cNvPr>
          <p:cNvSpPr/>
          <p:nvPr/>
        </p:nvSpPr>
        <p:spPr>
          <a:xfrm>
            <a:off x="5271611" y="445526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CBEB509-C36D-8D62-FF25-276FDEEC9BF7}"/>
              </a:ext>
            </a:extLst>
          </p:cNvPr>
          <p:cNvSpPr/>
          <p:nvPr/>
        </p:nvSpPr>
        <p:spPr>
          <a:xfrm>
            <a:off x="5220921" y="215446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9263707-194F-7B8F-B384-3A48024AC880}"/>
              </a:ext>
            </a:extLst>
          </p:cNvPr>
          <p:cNvSpPr/>
          <p:nvPr/>
        </p:nvSpPr>
        <p:spPr>
          <a:xfrm>
            <a:off x="1073755" y="542167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CC21964-D8F9-D1AE-E8DA-3557B32BA03C}"/>
              </a:ext>
            </a:extLst>
          </p:cNvPr>
          <p:cNvSpPr/>
          <p:nvPr/>
        </p:nvSpPr>
        <p:spPr>
          <a:xfrm>
            <a:off x="1073755" y="494235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EB6EA5E-69C2-C0F1-9D51-9855F4CF4ECC}"/>
              </a:ext>
            </a:extLst>
          </p:cNvPr>
          <p:cNvSpPr/>
          <p:nvPr/>
        </p:nvSpPr>
        <p:spPr>
          <a:xfrm>
            <a:off x="1330437" y="163452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F859A29-5B94-F19B-0FE5-6D649D1FB437}"/>
              </a:ext>
            </a:extLst>
          </p:cNvPr>
          <p:cNvSpPr/>
          <p:nvPr/>
        </p:nvSpPr>
        <p:spPr>
          <a:xfrm>
            <a:off x="890811" y="406547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7B01793-7175-3ECD-8A37-693CAA3CD07F}"/>
              </a:ext>
            </a:extLst>
          </p:cNvPr>
          <p:cNvSpPr/>
          <p:nvPr/>
        </p:nvSpPr>
        <p:spPr>
          <a:xfrm>
            <a:off x="1092184" y="351360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031864B-3F46-8EB0-5B0C-5A2922B3AE8B}"/>
              </a:ext>
            </a:extLst>
          </p:cNvPr>
          <p:cNvSpPr/>
          <p:nvPr/>
        </p:nvSpPr>
        <p:spPr>
          <a:xfrm>
            <a:off x="5413965" y="266557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EA9FE4CD-CE6C-2F11-24FD-EB68853AA699}"/>
              </a:ext>
            </a:extLst>
          </p:cNvPr>
          <p:cNvSpPr/>
          <p:nvPr/>
        </p:nvSpPr>
        <p:spPr>
          <a:xfrm>
            <a:off x="1055325" y="214938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4600C1B-143F-9CCB-E3D2-0BEF014269D0}"/>
              </a:ext>
            </a:extLst>
          </p:cNvPr>
          <p:cNvSpPr/>
          <p:nvPr/>
        </p:nvSpPr>
        <p:spPr>
          <a:xfrm>
            <a:off x="5675356" y="262166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1DC12ED2-C156-32C1-A0DE-C31FA456ADCB}"/>
              </a:ext>
            </a:extLst>
          </p:cNvPr>
          <p:cNvSpPr/>
          <p:nvPr/>
        </p:nvSpPr>
        <p:spPr>
          <a:xfrm>
            <a:off x="1230408" y="313567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0BD3AF1D-8D0C-1C61-2830-97B8AE7ECFCA}"/>
              </a:ext>
            </a:extLst>
          </p:cNvPr>
          <p:cNvSpPr/>
          <p:nvPr/>
        </p:nvSpPr>
        <p:spPr>
          <a:xfrm>
            <a:off x="1331291" y="163051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7855F874-79E5-C042-6623-9BDE6B5877E1}"/>
              </a:ext>
            </a:extLst>
          </p:cNvPr>
          <p:cNvSpPr/>
          <p:nvPr/>
        </p:nvSpPr>
        <p:spPr>
          <a:xfrm>
            <a:off x="5592200" y="216446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id="{70888BFE-A7CA-317D-834B-99EEB2C583B3}"/>
              </a:ext>
            </a:extLst>
          </p:cNvPr>
          <p:cNvCxnSpPr/>
          <p:nvPr/>
        </p:nvCxnSpPr>
        <p:spPr>
          <a:xfrm>
            <a:off x="4953000" y="995680"/>
            <a:ext cx="0" cy="50393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0D3C1FCE-8295-338D-4B71-31D03DE924A4}"/>
              </a:ext>
            </a:extLst>
          </p:cNvPr>
          <p:cNvSpPr/>
          <p:nvPr/>
        </p:nvSpPr>
        <p:spPr>
          <a:xfrm>
            <a:off x="1173655" y="410211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95993A18-5EF2-5984-85A5-4980FF7179BA}"/>
              </a:ext>
            </a:extLst>
          </p:cNvPr>
          <p:cNvSpPr/>
          <p:nvPr/>
        </p:nvSpPr>
        <p:spPr>
          <a:xfrm>
            <a:off x="698946" y="259495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F54A3DF8-80B8-8600-9A65-13412757312F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668673E0-C030-15B1-06D7-B12E0A3226D8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7E2EB5B1-54C5-12FD-CF35-6F25C5B6954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D33997BE-7282-5A47-08C4-43DF487AC5C0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AC09CCD-96CF-0DDA-29CD-EEDFA865181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D2B7CB4-3011-830A-4644-18F83AA9722F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3D19EB8-FFAE-4088-899D-AF3FDB9A7E62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D89AF189-396B-2741-4A5F-F205BE8F7BD3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6FFD9B3-C12F-7A18-8108-807CA9059E89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C1F0054C-911C-EAC2-2E01-08F7F02F6D7E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D989249-92BB-8570-86F9-04B9A05D6FEB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5D56AF9-B2EF-A8E2-1FEC-8B4F494855FF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E636DA3-2032-2873-460F-6C957700948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5A06E74E-4538-0B02-EBF0-37968635D5AE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7F3AEF69-1B1A-BA9C-3772-A62F136EEAD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7D490A4-1444-793B-EA9A-CFBD2C3E42D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B3E0BF14-6DA4-AC24-538F-D2DA6FF82A48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D3B8412E-EACC-D286-2A0F-1C7168C5BB9B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188EAD69-E02D-EFE8-67FF-DC362B27ABEE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5B378F10-0DD3-6885-D7F9-2E39CE53B8DB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6B008EB5-23AB-9A97-67B4-B9524E226E33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DBA5701-86DA-1482-3462-2DAE1E1E8369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8E3C139B-6A06-E759-0CF9-C465A5C800C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FD0B0169-81D5-E566-B0CB-5A6DC0921AB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C61EC0BA-2485-AE1C-D6A9-E77A2F11BF50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72608C7A-F8DA-1076-EF54-BA48DB7EB094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BD6F6426-A4C7-F1AC-8FA6-7CFC4EC4F791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498AFBC9-E39D-9EB7-76FE-3F59B347597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FF44CC4-D43E-D6FE-6500-15190B2D20A7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E04C7A5D-0FA7-9991-E2B4-3DB5254C3C4D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523E2FA3-01B2-A699-771E-F9441DD21EFD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C6C45FC5-5EDD-411C-55A6-3CB5BA9D806B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D2B5040A-992E-206E-6C7F-C61546DC0B54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1E1CAF93-2259-7309-713B-A48C8DD71E0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A140CA80-7BCB-1C60-F421-C90A6AA3744B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6BDD07F8-5D7E-0F39-38E8-27FCEACF6666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B01C8BF-12D7-D936-9CCD-092B21BDC36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E244432B-8C85-8772-DFE0-F23819CD7D9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CB3CBA61-40B9-4C9D-E890-853561187B54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4B66303-A5C0-989C-E1D9-4DDAA5858812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EF3FCEFB-534A-E405-C4F7-89F1ACF61B39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144FE387-4889-EA3F-0AF3-C6451746DB41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0615180A-6EF1-A6EC-715C-7B6AFBC242CD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8E75CE67-9B85-A192-F48F-905C74DC66F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2DB7BDDB-D385-FF4D-DBF5-55DF207D7AC6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C13D6340-EF11-BE1C-287F-AD966BD8BD02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79132145-5D60-9EC9-2CD7-7D88C6B6FA4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2AB2855E-C1D1-8654-566A-5F654D4F7386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BE183E5A-2A15-E7D7-B460-F2128E4C2F62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3EF8CDEC-E30B-0E1D-8603-B7B8967554D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6491FAC4-DF42-B072-A898-63A362843D28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A549CC5B-2A61-B92B-8A56-2214BAA5B706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E744A1D0-5B4F-B96C-B3FD-B19C4DFDCE9C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79B94094-2910-9DE3-24A7-71F9BA9512B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49EEC41-9BEB-5B97-315D-ED5F52E0C2EF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F4F74499-78DB-1D8D-D8DD-64A43BC92B2E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94427A64-B147-4832-941D-79222B0B855D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9FD09797-A694-A930-D1F6-FB722E800F25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4E1A00A2-DA21-5A2E-A73B-5D95A1509FE4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7214C778-70D4-1B9B-8A0B-BEA02409285A}"/>
              </a:ext>
            </a:extLst>
          </p:cNvPr>
          <p:cNvSpPr/>
          <p:nvPr/>
        </p:nvSpPr>
        <p:spPr>
          <a:xfrm>
            <a:off x="542893" y="542036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52468773-8B16-7C7B-7FC8-3D6DC4090D2B}"/>
              </a:ext>
            </a:extLst>
          </p:cNvPr>
          <p:cNvSpPr/>
          <p:nvPr/>
        </p:nvSpPr>
        <p:spPr>
          <a:xfrm>
            <a:off x="610170" y="166151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29CACEDE-FFF7-7480-28C4-D5950FEEAB30}"/>
              </a:ext>
            </a:extLst>
          </p:cNvPr>
          <p:cNvSpPr/>
          <p:nvPr/>
        </p:nvSpPr>
        <p:spPr>
          <a:xfrm>
            <a:off x="5045077" y="2128019"/>
            <a:ext cx="168807" cy="191188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702D0024-9F7E-2948-D6B4-E5D36D98EFC3}"/>
              </a:ext>
            </a:extLst>
          </p:cNvPr>
          <p:cNvSpPr/>
          <p:nvPr/>
        </p:nvSpPr>
        <p:spPr>
          <a:xfrm>
            <a:off x="1320408" y="351520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71DB85C-7B95-74CE-C400-400FE492BA5A}"/>
              </a:ext>
            </a:extLst>
          </p:cNvPr>
          <p:cNvSpPr/>
          <p:nvPr/>
        </p:nvSpPr>
        <p:spPr>
          <a:xfrm>
            <a:off x="1635720" y="309013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9F49B111-EE1F-3F43-9579-2DD12C182726}"/>
              </a:ext>
            </a:extLst>
          </p:cNvPr>
          <p:cNvSpPr/>
          <p:nvPr/>
        </p:nvSpPr>
        <p:spPr>
          <a:xfrm>
            <a:off x="909276" y="171385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472B633E-97F3-C0EB-47DF-572DF919D462}"/>
              </a:ext>
            </a:extLst>
          </p:cNvPr>
          <p:cNvSpPr/>
          <p:nvPr/>
        </p:nvSpPr>
        <p:spPr>
          <a:xfrm>
            <a:off x="4402036" y="501141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88A859A9-1384-927D-1BD2-5CD3F0AB52EB}"/>
              </a:ext>
            </a:extLst>
          </p:cNvPr>
          <p:cNvSpPr/>
          <p:nvPr/>
        </p:nvSpPr>
        <p:spPr>
          <a:xfrm flipH="1" flipV="1">
            <a:off x="5221840" y="1629735"/>
            <a:ext cx="279287" cy="27928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71B5E45D-91BE-4393-978F-41ABDB7B8307}"/>
              </a:ext>
            </a:extLst>
          </p:cNvPr>
          <p:cNvSpPr/>
          <p:nvPr/>
        </p:nvSpPr>
        <p:spPr>
          <a:xfrm>
            <a:off x="5639375" y="173411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9CC05F2-EBA4-0415-FE00-179F0AB15176}"/>
              </a:ext>
            </a:extLst>
          </p:cNvPr>
          <p:cNvSpPr/>
          <p:nvPr/>
        </p:nvSpPr>
        <p:spPr>
          <a:xfrm flipH="1" flipV="1">
            <a:off x="5670688" y="1587982"/>
            <a:ext cx="279287" cy="27928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0" name="타원 56">
            <a:extLst>
              <a:ext uri="{FF2B5EF4-FFF2-40B4-BE49-F238E27FC236}">
                <a16:creationId xmlns:a16="http://schemas.microsoft.com/office/drawing/2014/main" id="{6300ACE5-9F51-AB70-8D3B-21FFBE214BEF}"/>
              </a:ext>
            </a:extLst>
          </p:cNvPr>
          <p:cNvSpPr/>
          <p:nvPr/>
        </p:nvSpPr>
        <p:spPr>
          <a:xfrm>
            <a:off x="1218852" y="508782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5DD5F7EA-EA21-E17F-ABF8-19CFA74F40EC}"/>
              </a:ext>
            </a:extLst>
          </p:cNvPr>
          <p:cNvSpPr/>
          <p:nvPr/>
        </p:nvSpPr>
        <p:spPr>
          <a:xfrm>
            <a:off x="8908711" y="254752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A5FB4519-FB32-9D4C-8255-20C4AC97F2F0}"/>
              </a:ext>
            </a:extLst>
          </p:cNvPr>
          <p:cNvSpPr/>
          <p:nvPr/>
        </p:nvSpPr>
        <p:spPr>
          <a:xfrm>
            <a:off x="5046841" y="2190090"/>
            <a:ext cx="184583" cy="2180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타원 130">
            <a:extLst>
              <a:ext uri="{FF2B5EF4-FFF2-40B4-BE49-F238E27FC236}">
                <a16:creationId xmlns:a16="http://schemas.microsoft.com/office/drawing/2014/main" id="{EC12B5B6-EDCF-C724-4398-EFF5A5F08E9D}"/>
              </a:ext>
            </a:extLst>
          </p:cNvPr>
          <p:cNvSpPr/>
          <p:nvPr/>
        </p:nvSpPr>
        <p:spPr>
          <a:xfrm>
            <a:off x="950527" y="153802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24BB119-7CA8-ADC0-8F11-C03F3ECB29B4}"/>
              </a:ext>
            </a:extLst>
          </p:cNvPr>
          <p:cNvSpPr/>
          <p:nvPr/>
        </p:nvSpPr>
        <p:spPr>
          <a:xfrm>
            <a:off x="4091459" y="1678699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BF911B77-FCB0-FBAC-877D-301D01471FD0}"/>
              </a:ext>
            </a:extLst>
          </p:cNvPr>
          <p:cNvSpPr/>
          <p:nvPr/>
        </p:nvSpPr>
        <p:spPr>
          <a:xfrm>
            <a:off x="4587076" y="546424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5" name="타원 130">
            <a:extLst>
              <a:ext uri="{FF2B5EF4-FFF2-40B4-BE49-F238E27FC236}">
                <a16:creationId xmlns:a16="http://schemas.microsoft.com/office/drawing/2014/main" id="{6F7AE2BE-6D50-BA07-06ED-D71CC26B0B0A}"/>
              </a:ext>
            </a:extLst>
          </p:cNvPr>
          <p:cNvSpPr/>
          <p:nvPr/>
        </p:nvSpPr>
        <p:spPr>
          <a:xfrm>
            <a:off x="1699053" y="188022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6129180C-1D05-45EB-FE35-2C5E4515DDE1}"/>
              </a:ext>
            </a:extLst>
          </p:cNvPr>
          <p:cNvSpPr/>
          <p:nvPr/>
        </p:nvSpPr>
        <p:spPr>
          <a:xfrm>
            <a:off x="5367176" y="2270442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타원 1">
            <a:extLst>
              <a:ext uri="{FF2B5EF4-FFF2-40B4-BE49-F238E27FC236}">
                <a16:creationId xmlns:a16="http://schemas.microsoft.com/office/drawing/2014/main" id="{FCBD42AE-B45E-3340-06DE-0C33ED9E06DE}"/>
              </a:ext>
            </a:extLst>
          </p:cNvPr>
          <p:cNvSpPr/>
          <p:nvPr/>
        </p:nvSpPr>
        <p:spPr>
          <a:xfrm>
            <a:off x="8883321" y="2346048"/>
            <a:ext cx="117633" cy="7609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0" name="타원 147">
            <a:extLst>
              <a:ext uri="{FF2B5EF4-FFF2-40B4-BE49-F238E27FC236}">
                <a16:creationId xmlns:a16="http://schemas.microsoft.com/office/drawing/2014/main" id="{677E87F4-3F45-27BF-16E2-01F112EFEB65}"/>
              </a:ext>
            </a:extLst>
          </p:cNvPr>
          <p:cNvSpPr/>
          <p:nvPr/>
        </p:nvSpPr>
        <p:spPr>
          <a:xfrm>
            <a:off x="1092184" y="178041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286D915E-7D51-73A4-2BF7-452E6174672E}"/>
              </a:ext>
            </a:extLst>
          </p:cNvPr>
          <p:cNvSpPr/>
          <p:nvPr/>
        </p:nvSpPr>
        <p:spPr>
          <a:xfrm>
            <a:off x="9069757" y="266305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6" name="타원 51">
            <a:extLst>
              <a:ext uri="{FF2B5EF4-FFF2-40B4-BE49-F238E27FC236}">
                <a16:creationId xmlns:a16="http://schemas.microsoft.com/office/drawing/2014/main" id="{1BB15F30-F917-96B4-86BA-33A62EBC232A}"/>
              </a:ext>
            </a:extLst>
          </p:cNvPr>
          <p:cNvSpPr/>
          <p:nvPr/>
        </p:nvSpPr>
        <p:spPr>
          <a:xfrm>
            <a:off x="5542186" y="156306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C0F8A5E-A032-7750-1F7B-0CB2BE57D0F7}"/>
              </a:ext>
            </a:extLst>
          </p:cNvPr>
          <p:cNvSpPr/>
          <p:nvPr/>
        </p:nvSpPr>
        <p:spPr>
          <a:xfrm>
            <a:off x="1655702" y="4535660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7652846-1A0A-3359-9FF8-5A4680C2F1C0}"/>
              </a:ext>
            </a:extLst>
          </p:cNvPr>
          <p:cNvSpPr/>
          <p:nvPr/>
        </p:nvSpPr>
        <p:spPr>
          <a:xfrm>
            <a:off x="5718590" y="2540605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타원 151">
            <a:extLst>
              <a:ext uri="{FF2B5EF4-FFF2-40B4-BE49-F238E27FC236}">
                <a16:creationId xmlns:a16="http://schemas.microsoft.com/office/drawing/2014/main" id="{D57E2065-9468-C145-531C-C23AF5AD4CC5}"/>
              </a:ext>
            </a:extLst>
          </p:cNvPr>
          <p:cNvSpPr/>
          <p:nvPr/>
        </p:nvSpPr>
        <p:spPr>
          <a:xfrm>
            <a:off x="5055730" y="2274393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A2DB66E4-ECAF-CFCE-23E5-C2B6115A68F7}"/>
              </a:ext>
            </a:extLst>
          </p:cNvPr>
          <p:cNvSpPr/>
          <p:nvPr/>
        </p:nvSpPr>
        <p:spPr>
          <a:xfrm>
            <a:off x="5063341" y="257557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EA5F84B9-E118-EEBA-E5E4-DCD09D4CB803}"/>
              </a:ext>
            </a:extLst>
          </p:cNvPr>
          <p:cNvSpPr/>
          <p:nvPr/>
        </p:nvSpPr>
        <p:spPr>
          <a:xfrm>
            <a:off x="1491898" y="321943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2132F1D5-3657-5739-5706-381EBC41DF62}"/>
              </a:ext>
            </a:extLst>
          </p:cNvPr>
          <p:cNvSpPr/>
          <p:nvPr/>
        </p:nvSpPr>
        <p:spPr>
          <a:xfrm>
            <a:off x="1541830" y="360360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11CBC4E-B51E-D68A-1B78-78A6EAEC59E5}"/>
              </a:ext>
            </a:extLst>
          </p:cNvPr>
          <p:cNvSpPr/>
          <p:nvPr/>
        </p:nvSpPr>
        <p:spPr>
          <a:xfrm>
            <a:off x="5562727" y="2488651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807DACB2-BFBA-A313-D839-024F4820C833}"/>
              </a:ext>
            </a:extLst>
          </p:cNvPr>
          <p:cNvSpPr/>
          <p:nvPr/>
        </p:nvSpPr>
        <p:spPr>
          <a:xfrm>
            <a:off x="1389002" y="397830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8D43A642-EB99-093D-CD2F-82EB8F29230F}"/>
              </a:ext>
            </a:extLst>
          </p:cNvPr>
          <p:cNvSpPr/>
          <p:nvPr/>
        </p:nvSpPr>
        <p:spPr>
          <a:xfrm>
            <a:off x="1169357" y="158332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CF806AB1-0964-783A-4D56-9F1999B3F3EB}"/>
              </a:ext>
            </a:extLst>
          </p:cNvPr>
          <p:cNvSpPr/>
          <p:nvPr/>
        </p:nvSpPr>
        <p:spPr>
          <a:xfrm>
            <a:off x="5862063" y="2686077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1EE93FCA-01D7-CF4A-59EE-03E5E8B03DF4}"/>
              </a:ext>
            </a:extLst>
          </p:cNvPr>
          <p:cNvSpPr/>
          <p:nvPr/>
        </p:nvSpPr>
        <p:spPr>
          <a:xfrm>
            <a:off x="4628645" y="5408496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04C1AC7-C454-3532-2E9F-467FFE67E908}"/>
              </a:ext>
            </a:extLst>
          </p:cNvPr>
          <p:cNvSpPr/>
          <p:nvPr/>
        </p:nvSpPr>
        <p:spPr>
          <a:xfrm>
            <a:off x="1115418" y="3226405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8A87DE49-510F-8F14-E894-3D23B4CF60DB}"/>
              </a:ext>
            </a:extLst>
          </p:cNvPr>
          <p:cNvSpPr/>
          <p:nvPr/>
        </p:nvSpPr>
        <p:spPr>
          <a:xfrm>
            <a:off x="5801717" y="4681133"/>
            <a:ext cx="194949" cy="1949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타원 58">
            <a:extLst>
              <a:ext uri="{FF2B5EF4-FFF2-40B4-BE49-F238E27FC236}">
                <a16:creationId xmlns:a16="http://schemas.microsoft.com/office/drawing/2014/main" id="{74CE7766-3C5A-55CD-DB4F-FCCA5BD4E619}"/>
              </a:ext>
            </a:extLst>
          </p:cNvPr>
          <p:cNvSpPr/>
          <p:nvPr/>
        </p:nvSpPr>
        <p:spPr>
          <a:xfrm>
            <a:off x="5730681" y="224989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97243A10-E925-647F-3F7D-BCBBBD0CF686}"/>
              </a:ext>
            </a:extLst>
          </p:cNvPr>
          <p:cNvSpPr/>
          <p:nvPr/>
        </p:nvSpPr>
        <p:spPr>
          <a:xfrm>
            <a:off x="8355446" y="2122652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9" name="타원 49">
            <a:extLst>
              <a:ext uri="{FF2B5EF4-FFF2-40B4-BE49-F238E27FC236}">
                <a16:creationId xmlns:a16="http://schemas.microsoft.com/office/drawing/2014/main" id="{1B614558-5604-0265-CB2C-1E5C6C5A7C10}"/>
              </a:ext>
            </a:extLst>
          </p:cNvPr>
          <p:cNvSpPr/>
          <p:nvPr/>
        </p:nvSpPr>
        <p:spPr>
          <a:xfrm>
            <a:off x="705206" y="398303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0" name="타원 49">
            <a:extLst>
              <a:ext uri="{FF2B5EF4-FFF2-40B4-BE49-F238E27FC236}">
                <a16:creationId xmlns:a16="http://schemas.microsoft.com/office/drawing/2014/main" id="{69FE1BE6-D4BD-B4B7-1965-66C04765B976}"/>
              </a:ext>
            </a:extLst>
          </p:cNvPr>
          <p:cNvSpPr/>
          <p:nvPr/>
        </p:nvSpPr>
        <p:spPr>
          <a:xfrm>
            <a:off x="4469848" y="541500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1" name="타원 65">
            <a:extLst>
              <a:ext uri="{FF2B5EF4-FFF2-40B4-BE49-F238E27FC236}">
                <a16:creationId xmlns:a16="http://schemas.microsoft.com/office/drawing/2014/main" id="{A6853F64-156D-4662-FF41-6AD6D02C900C}"/>
              </a:ext>
            </a:extLst>
          </p:cNvPr>
          <p:cNvSpPr/>
          <p:nvPr/>
        </p:nvSpPr>
        <p:spPr>
          <a:xfrm>
            <a:off x="5735717" y="230993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E28AEC0-C0DC-2DAE-8ABF-0AFA9C8D67DD}"/>
              </a:ext>
            </a:extLst>
          </p:cNvPr>
          <p:cNvSpPr/>
          <p:nvPr/>
        </p:nvSpPr>
        <p:spPr>
          <a:xfrm>
            <a:off x="5503965" y="221432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2" name="타원 49">
            <a:extLst>
              <a:ext uri="{FF2B5EF4-FFF2-40B4-BE49-F238E27FC236}">
                <a16:creationId xmlns:a16="http://schemas.microsoft.com/office/drawing/2014/main" id="{978351E5-2075-9906-30FC-FDE296840962}"/>
              </a:ext>
            </a:extLst>
          </p:cNvPr>
          <p:cNvSpPr/>
          <p:nvPr/>
        </p:nvSpPr>
        <p:spPr>
          <a:xfrm>
            <a:off x="5193577" y="259923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3" name="타원 49">
            <a:extLst>
              <a:ext uri="{FF2B5EF4-FFF2-40B4-BE49-F238E27FC236}">
                <a16:creationId xmlns:a16="http://schemas.microsoft.com/office/drawing/2014/main" id="{4CCD7F1A-DF2A-DBA3-CA22-C4EF85738A01}"/>
              </a:ext>
            </a:extLst>
          </p:cNvPr>
          <p:cNvSpPr/>
          <p:nvPr/>
        </p:nvSpPr>
        <p:spPr>
          <a:xfrm>
            <a:off x="878946" y="356544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4" name="타원 49">
            <a:extLst>
              <a:ext uri="{FF2B5EF4-FFF2-40B4-BE49-F238E27FC236}">
                <a16:creationId xmlns:a16="http://schemas.microsoft.com/office/drawing/2014/main" id="{CDA03D76-92E7-3F8B-D612-633FC93054B9}"/>
              </a:ext>
            </a:extLst>
          </p:cNvPr>
          <p:cNvSpPr/>
          <p:nvPr/>
        </p:nvSpPr>
        <p:spPr>
          <a:xfrm>
            <a:off x="4315093" y="443826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5" name="타원 49">
            <a:extLst>
              <a:ext uri="{FF2B5EF4-FFF2-40B4-BE49-F238E27FC236}">
                <a16:creationId xmlns:a16="http://schemas.microsoft.com/office/drawing/2014/main" id="{DD9188E9-EBDE-7699-AD51-922F387BADB3}"/>
              </a:ext>
            </a:extLst>
          </p:cNvPr>
          <p:cNvSpPr/>
          <p:nvPr/>
        </p:nvSpPr>
        <p:spPr>
          <a:xfrm>
            <a:off x="1222742" y="361288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6" name="타원 49">
            <a:extLst>
              <a:ext uri="{FF2B5EF4-FFF2-40B4-BE49-F238E27FC236}">
                <a16:creationId xmlns:a16="http://schemas.microsoft.com/office/drawing/2014/main" id="{CE63A602-1E05-B26C-306A-79C6E45051CC}"/>
              </a:ext>
            </a:extLst>
          </p:cNvPr>
          <p:cNvSpPr/>
          <p:nvPr/>
        </p:nvSpPr>
        <p:spPr>
          <a:xfrm>
            <a:off x="4032684" y="170511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7" name="타원 49">
            <a:extLst>
              <a:ext uri="{FF2B5EF4-FFF2-40B4-BE49-F238E27FC236}">
                <a16:creationId xmlns:a16="http://schemas.microsoft.com/office/drawing/2014/main" id="{4EA46B68-FD1C-7457-E0EA-24BDB00FD03E}"/>
              </a:ext>
            </a:extLst>
          </p:cNvPr>
          <p:cNvSpPr/>
          <p:nvPr/>
        </p:nvSpPr>
        <p:spPr>
          <a:xfrm>
            <a:off x="788946" y="348729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4B5D985-AE94-D1A3-AE4F-6B428FE398C3}"/>
              </a:ext>
            </a:extLst>
          </p:cNvPr>
          <p:cNvSpPr/>
          <p:nvPr/>
        </p:nvSpPr>
        <p:spPr>
          <a:xfrm>
            <a:off x="5367057" y="230060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4" name="타원 161">
            <a:extLst>
              <a:ext uri="{FF2B5EF4-FFF2-40B4-BE49-F238E27FC236}">
                <a16:creationId xmlns:a16="http://schemas.microsoft.com/office/drawing/2014/main" id="{EFBB8E42-9672-3102-FBB6-365514E4F205}"/>
              </a:ext>
            </a:extLst>
          </p:cNvPr>
          <p:cNvSpPr/>
          <p:nvPr/>
        </p:nvSpPr>
        <p:spPr>
          <a:xfrm>
            <a:off x="586133" y="212432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8E274FB9-7B1D-C2E1-9DA5-27BED95A7372}"/>
              </a:ext>
            </a:extLst>
          </p:cNvPr>
          <p:cNvSpPr/>
          <p:nvPr/>
        </p:nvSpPr>
        <p:spPr>
          <a:xfrm>
            <a:off x="5513194" y="244673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554B7DDD-9E30-7625-7E99-F276DF56578F}"/>
              </a:ext>
            </a:extLst>
          </p:cNvPr>
          <p:cNvSpPr/>
          <p:nvPr/>
        </p:nvSpPr>
        <p:spPr>
          <a:xfrm>
            <a:off x="8933110" y="2579852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2" name="타원 49">
            <a:extLst>
              <a:ext uri="{FF2B5EF4-FFF2-40B4-BE49-F238E27FC236}">
                <a16:creationId xmlns:a16="http://schemas.microsoft.com/office/drawing/2014/main" id="{773E8BCF-B19F-B0E8-6767-334FA148F7CE}"/>
              </a:ext>
            </a:extLst>
          </p:cNvPr>
          <p:cNvSpPr/>
          <p:nvPr/>
        </p:nvSpPr>
        <p:spPr>
          <a:xfrm>
            <a:off x="819017" y="5328573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0" name="타원 49">
            <a:extLst>
              <a:ext uri="{FF2B5EF4-FFF2-40B4-BE49-F238E27FC236}">
                <a16:creationId xmlns:a16="http://schemas.microsoft.com/office/drawing/2014/main" id="{4264E7C6-DC43-DB62-9BE0-69EFF8FAB9C4}"/>
              </a:ext>
            </a:extLst>
          </p:cNvPr>
          <p:cNvSpPr/>
          <p:nvPr/>
        </p:nvSpPr>
        <p:spPr>
          <a:xfrm>
            <a:off x="5199425" y="494513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1" name="타원 49">
            <a:extLst>
              <a:ext uri="{FF2B5EF4-FFF2-40B4-BE49-F238E27FC236}">
                <a16:creationId xmlns:a16="http://schemas.microsoft.com/office/drawing/2014/main" id="{4CDD8F5C-C6F4-5DA5-D1B6-BE6F5EEC955A}"/>
              </a:ext>
            </a:extLst>
          </p:cNvPr>
          <p:cNvSpPr/>
          <p:nvPr/>
        </p:nvSpPr>
        <p:spPr>
          <a:xfrm>
            <a:off x="1074496" y="449323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3" name="타원 49">
            <a:extLst>
              <a:ext uri="{FF2B5EF4-FFF2-40B4-BE49-F238E27FC236}">
                <a16:creationId xmlns:a16="http://schemas.microsoft.com/office/drawing/2014/main" id="{C10F58CC-4EC2-E5C1-5458-8411B8848D72}"/>
              </a:ext>
            </a:extLst>
          </p:cNvPr>
          <p:cNvSpPr/>
          <p:nvPr/>
        </p:nvSpPr>
        <p:spPr>
          <a:xfrm>
            <a:off x="1409267" y="451124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4" name="타원 49">
            <a:extLst>
              <a:ext uri="{FF2B5EF4-FFF2-40B4-BE49-F238E27FC236}">
                <a16:creationId xmlns:a16="http://schemas.microsoft.com/office/drawing/2014/main" id="{8A140363-AA07-BD40-7B79-FFB68520BA7A}"/>
              </a:ext>
            </a:extLst>
          </p:cNvPr>
          <p:cNvSpPr/>
          <p:nvPr/>
        </p:nvSpPr>
        <p:spPr>
          <a:xfrm>
            <a:off x="1639749" y="542808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5" name="타원 49">
            <a:extLst>
              <a:ext uri="{FF2B5EF4-FFF2-40B4-BE49-F238E27FC236}">
                <a16:creationId xmlns:a16="http://schemas.microsoft.com/office/drawing/2014/main" id="{725C896A-4B38-CA2F-A349-83EE7FE14632}"/>
              </a:ext>
            </a:extLst>
          </p:cNvPr>
          <p:cNvSpPr/>
          <p:nvPr/>
        </p:nvSpPr>
        <p:spPr>
          <a:xfrm>
            <a:off x="5003851" y="269066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6" name="타원 49">
            <a:extLst>
              <a:ext uri="{FF2B5EF4-FFF2-40B4-BE49-F238E27FC236}">
                <a16:creationId xmlns:a16="http://schemas.microsoft.com/office/drawing/2014/main" id="{84AE833B-C7D7-26B6-055A-2A61D0DEDA2F}"/>
              </a:ext>
            </a:extLst>
          </p:cNvPr>
          <p:cNvSpPr/>
          <p:nvPr/>
        </p:nvSpPr>
        <p:spPr>
          <a:xfrm>
            <a:off x="1803002" y="307856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7" name="타원 49">
            <a:extLst>
              <a:ext uri="{FF2B5EF4-FFF2-40B4-BE49-F238E27FC236}">
                <a16:creationId xmlns:a16="http://schemas.microsoft.com/office/drawing/2014/main" id="{B72AFC4B-3117-7638-46D3-57C4F32CC584}"/>
              </a:ext>
            </a:extLst>
          </p:cNvPr>
          <p:cNvSpPr/>
          <p:nvPr/>
        </p:nvSpPr>
        <p:spPr>
          <a:xfrm>
            <a:off x="1345000" y="3049696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6436D823-F08B-6CC1-D8AC-C62F86FE08C7}"/>
              </a:ext>
            </a:extLst>
          </p:cNvPr>
          <p:cNvSpPr/>
          <p:nvPr/>
        </p:nvSpPr>
        <p:spPr>
          <a:xfrm>
            <a:off x="845082" y="2741092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E413ABC1-EED8-C466-EF48-8D6990DA67FF}"/>
              </a:ext>
            </a:extLst>
          </p:cNvPr>
          <p:cNvSpPr/>
          <p:nvPr/>
        </p:nvSpPr>
        <p:spPr>
          <a:xfrm>
            <a:off x="991219" y="288722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EEC29DE3-A36E-7D5B-DED4-FC97855F17AB}"/>
              </a:ext>
            </a:extLst>
          </p:cNvPr>
          <p:cNvSpPr/>
          <p:nvPr/>
        </p:nvSpPr>
        <p:spPr>
          <a:xfrm>
            <a:off x="4212010" y="3002503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5B1E1CC-3F81-C121-9B4E-34385B27635E}"/>
              </a:ext>
            </a:extLst>
          </p:cNvPr>
          <p:cNvSpPr/>
          <p:nvPr/>
        </p:nvSpPr>
        <p:spPr>
          <a:xfrm>
            <a:off x="5542186" y="396633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1" name="타원 49">
            <a:extLst>
              <a:ext uri="{FF2B5EF4-FFF2-40B4-BE49-F238E27FC236}">
                <a16:creationId xmlns:a16="http://schemas.microsoft.com/office/drawing/2014/main" id="{301DC984-2E8F-7905-09DD-B080B644C056}"/>
              </a:ext>
            </a:extLst>
          </p:cNvPr>
          <p:cNvSpPr/>
          <p:nvPr/>
        </p:nvSpPr>
        <p:spPr>
          <a:xfrm>
            <a:off x="642859" y="4848839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2" name="타원 49">
            <a:extLst>
              <a:ext uri="{FF2B5EF4-FFF2-40B4-BE49-F238E27FC236}">
                <a16:creationId xmlns:a16="http://schemas.microsoft.com/office/drawing/2014/main" id="{4F0C3111-8CBB-F568-C040-A057BAAD4FD5}"/>
              </a:ext>
            </a:extLst>
          </p:cNvPr>
          <p:cNvSpPr/>
          <p:nvPr/>
        </p:nvSpPr>
        <p:spPr>
          <a:xfrm>
            <a:off x="5127432" y="4363698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3" name="타원 188">
            <a:extLst>
              <a:ext uri="{FF2B5EF4-FFF2-40B4-BE49-F238E27FC236}">
                <a16:creationId xmlns:a16="http://schemas.microsoft.com/office/drawing/2014/main" id="{E597E2D8-FBE2-B44F-B9C6-B16A3C7DBDF7}"/>
              </a:ext>
            </a:extLst>
          </p:cNvPr>
          <p:cNvSpPr/>
          <p:nvPr/>
        </p:nvSpPr>
        <p:spPr>
          <a:xfrm>
            <a:off x="5495356" y="268495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D20D574D-9718-EF43-D377-06EE5D38164B}"/>
              </a:ext>
            </a:extLst>
          </p:cNvPr>
          <p:cNvSpPr/>
          <p:nvPr/>
        </p:nvSpPr>
        <p:spPr>
          <a:xfrm>
            <a:off x="4583722" y="3051800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DFA31C58-1C70-F1AD-6315-FA113FF6C551}"/>
              </a:ext>
            </a:extLst>
          </p:cNvPr>
          <p:cNvSpPr/>
          <p:nvPr/>
        </p:nvSpPr>
        <p:spPr>
          <a:xfrm>
            <a:off x="1163128" y="532942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6" name="타원 49">
            <a:extLst>
              <a:ext uri="{FF2B5EF4-FFF2-40B4-BE49-F238E27FC236}">
                <a16:creationId xmlns:a16="http://schemas.microsoft.com/office/drawing/2014/main" id="{11F5180A-6112-36D7-6171-3B6210B665F5}"/>
              </a:ext>
            </a:extLst>
          </p:cNvPr>
          <p:cNvSpPr/>
          <p:nvPr/>
        </p:nvSpPr>
        <p:spPr>
          <a:xfrm>
            <a:off x="1663245" y="360304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7" name="타원 49">
            <a:extLst>
              <a:ext uri="{FF2B5EF4-FFF2-40B4-BE49-F238E27FC236}">
                <a16:creationId xmlns:a16="http://schemas.microsoft.com/office/drawing/2014/main" id="{7EF8065E-FDA0-2584-E44F-A1C3B7E3560D}"/>
              </a:ext>
            </a:extLst>
          </p:cNvPr>
          <p:cNvSpPr/>
          <p:nvPr/>
        </p:nvSpPr>
        <p:spPr>
          <a:xfrm>
            <a:off x="753707" y="3603971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04CD4E81-4119-80CC-B50C-A72CA93C23F7}"/>
              </a:ext>
            </a:extLst>
          </p:cNvPr>
          <p:cNvSpPr/>
          <p:nvPr/>
        </p:nvSpPr>
        <p:spPr>
          <a:xfrm>
            <a:off x="1658448" y="4003487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8966707A-D333-8103-99F5-F1BDC3A63535}"/>
              </a:ext>
            </a:extLst>
          </p:cNvPr>
          <p:cNvSpPr/>
          <p:nvPr/>
        </p:nvSpPr>
        <p:spPr>
          <a:xfrm>
            <a:off x="3843301" y="3501317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B8D21DAC-FD89-4F86-655B-395B811D33D6}"/>
              </a:ext>
            </a:extLst>
          </p:cNvPr>
          <p:cNvSpPr/>
          <p:nvPr/>
        </p:nvSpPr>
        <p:spPr>
          <a:xfrm>
            <a:off x="8255524" y="3970614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62E32911-94A5-10B9-2B73-63C48FCEBDBF}"/>
              </a:ext>
            </a:extLst>
          </p:cNvPr>
          <p:cNvSpPr/>
          <p:nvPr/>
        </p:nvSpPr>
        <p:spPr>
          <a:xfrm>
            <a:off x="3744978" y="4418704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C71BE383-934F-A1D0-B6ED-8D8479B47735}"/>
              </a:ext>
            </a:extLst>
          </p:cNvPr>
          <p:cNvSpPr/>
          <p:nvPr/>
        </p:nvSpPr>
        <p:spPr>
          <a:xfrm>
            <a:off x="8259698" y="4858733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FC9E3695-EEA0-087D-CADA-461EA067DFE6}"/>
              </a:ext>
            </a:extLst>
          </p:cNvPr>
          <p:cNvSpPr/>
          <p:nvPr/>
        </p:nvSpPr>
        <p:spPr>
          <a:xfrm>
            <a:off x="4026243" y="5279335"/>
            <a:ext cx="278371" cy="263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6" name="타원 49">
            <a:extLst>
              <a:ext uri="{FF2B5EF4-FFF2-40B4-BE49-F238E27FC236}">
                <a16:creationId xmlns:a16="http://schemas.microsoft.com/office/drawing/2014/main" id="{EAD48602-CDBC-BC65-F2E1-23DBCD722802}"/>
              </a:ext>
            </a:extLst>
          </p:cNvPr>
          <p:cNvSpPr/>
          <p:nvPr/>
        </p:nvSpPr>
        <p:spPr>
          <a:xfrm>
            <a:off x="1138224" y="390971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C67C483B-004D-71DD-7C2C-D7DDA86A4388}"/>
              </a:ext>
            </a:extLst>
          </p:cNvPr>
          <p:cNvSpPr/>
          <p:nvPr/>
        </p:nvSpPr>
        <p:spPr>
          <a:xfrm>
            <a:off x="877272" y="3509088"/>
            <a:ext cx="181024" cy="1810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타원 49">
            <a:extLst>
              <a:ext uri="{FF2B5EF4-FFF2-40B4-BE49-F238E27FC236}">
                <a16:creationId xmlns:a16="http://schemas.microsoft.com/office/drawing/2014/main" id="{0528F89A-E4D0-0202-8E6A-C4DE4394421B}"/>
              </a:ext>
            </a:extLst>
          </p:cNvPr>
          <p:cNvSpPr/>
          <p:nvPr/>
        </p:nvSpPr>
        <p:spPr>
          <a:xfrm>
            <a:off x="1002184" y="4417243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9" name="타원 49">
            <a:extLst>
              <a:ext uri="{FF2B5EF4-FFF2-40B4-BE49-F238E27FC236}">
                <a16:creationId xmlns:a16="http://schemas.microsoft.com/office/drawing/2014/main" id="{F4D60DCB-B0B9-8600-F1D9-8AD3107C3060}"/>
              </a:ext>
            </a:extLst>
          </p:cNvPr>
          <p:cNvSpPr/>
          <p:nvPr/>
        </p:nvSpPr>
        <p:spPr>
          <a:xfrm>
            <a:off x="5635123" y="4977954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0" name="타원 49">
            <a:extLst>
              <a:ext uri="{FF2B5EF4-FFF2-40B4-BE49-F238E27FC236}">
                <a16:creationId xmlns:a16="http://schemas.microsoft.com/office/drawing/2014/main" id="{5722C412-C271-98C3-909B-C80B43DE8F0D}"/>
              </a:ext>
            </a:extLst>
          </p:cNvPr>
          <p:cNvSpPr/>
          <p:nvPr/>
        </p:nvSpPr>
        <p:spPr>
          <a:xfrm>
            <a:off x="1245472" y="5315455"/>
            <a:ext cx="180000" cy="18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231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12CB-F258-B9EA-4111-E302A260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1FF37-BA88-D74E-6EDD-A52F1E9B9236}"/>
              </a:ext>
            </a:extLst>
          </p:cNvPr>
          <p:cNvSpPr txBox="1"/>
          <p:nvPr/>
        </p:nvSpPr>
        <p:spPr>
          <a:xfrm>
            <a:off x="8386916" y="609601"/>
            <a:ext cx="1140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</a:t>
            </a:r>
            <a:r>
              <a:rPr lang="ko-KR" altLang="en-US" sz="1200"/>
              <a:t>조</a:t>
            </a:r>
            <a:r>
              <a:rPr lang="en-US" altLang="ko-KR" sz="1200"/>
              <a:t>_DX</a:t>
            </a:r>
            <a:r>
              <a:rPr lang="ko-KR" altLang="en-US" sz="1200" err="1"/>
              <a:t>새싹단</a:t>
            </a:r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A9976-8DB3-F57A-5F05-3D47AF48B428}"/>
              </a:ext>
            </a:extLst>
          </p:cNvPr>
          <p:cNvSpPr txBox="1"/>
          <p:nvPr/>
        </p:nvSpPr>
        <p:spPr>
          <a:xfrm>
            <a:off x="4134465" y="255658"/>
            <a:ext cx="1637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bg1"/>
                </a:solidFill>
              </a:rPr>
              <a:t>STARBUCKS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1F82E-C57D-E4D2-D7E7-526F2D7CA89C}"/>
              </a:ext>
            </a:extLst>
          </p:cNvPr>
          <p:cNvSpPr txBox="1"/>
          <p:nvPr/>
        </p:nvSpPr>
        <p:spPr>
          <a:xfrm>
            <a:off x="7796981" y="1592826"/>
            <a:ext cx="156332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공간 소비형 고객 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/>
              <a:t>매장이용고객 </a:t>
            </a:r>
            <a:r>
              <a:rPr lang="en-US" altLang="ko-KR" sz="1100"/>
              <a:t>(</a:t>
            </a:r>
            <a:r>
              <a:rPr lang="ko-KR" altLang="en-US" sz="1100" err="1"/>
              <a:t>카공</a:t>
            </a:r>
            <a:r>
              <a:rPr lang="en-US" altLang="ko-KR" sz="1100"/>
              <a:t>, </a:t>
            </a:r>
            <a:r>
              <a:rPr lang="ko-KR" altLang="en-US" sz="1100"/>
              <a:t>직장인</a:t>
            </a:r>
            <a:r>
              <a:rPr lang="en-US" altLang="ko-KR" sz="1100"/>
              <a:t>, </a:t>
            </a:r>
            <a:r>
              <a:rPr lang="ko-KR" altLang="en-US" sz="1100"/>
              <a:t>프리랜서</a:t>
            </a:r>
            <a:r>
              <a:rPr lang="en-US" altLang="ko-KR" sz="1100"/>
              <a:t> )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r>
              <a:rPr lang="ko-KR" altLang="en-US" sz="1100" b="1"/>
              <a:t>음료 중심 소비형 고객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err="1"/>
              <a:t>테이크아웃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워크인</a:t>
            </a:r>
            <a:r>
              <a:rPr lang="en-US" altLang="ko-KR" sz="1100"/>
              <a:t>, </a:t>
            </a:r>
            <a:r>
              <a:rPr lang="ko-KR" altLang="en-US" sz="1100" err="1"/>
              <a:t>드라이브스루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r>
              <a:rPr lang="ko-KR" altLang="en-US" sz="1100" b="1" err="1"/>
              <a:t>굿즈</a:t>
            </a:r>
            <a:r>
              <a:rPr lang="en-US" altLang="ko-KR" sz="1100" b="1"/>
              <a:t>/MD </a:t>
            </a:r>
            <a:r>
              <a:rPr lang="ko-KR" altLang="en-US" sz="1100" b="1"/>
              <a:t>구매 고객 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en-US" altLang="ko-KR" sz="1100"/>
              <a:t>MD</a:t>
            </a:r>
            <a:r>
              <a:rPr lang="ko-KR" altLang="en-US" sz="1100"/>
              <a:t>구매자 </a:t>
            </a:r>
            <a:r>
              <a:rPr lang="en-US" altLang="ko-KR" sz="1100"/>
              <a:t>(</a:t>
            </a:r>
            <a:r>
              <a:rPr lang="ko-KR" altLang="en-US" sz="1100" err="1"/>
              <a:t>굿즈</a:t>
            </a:r>
            <a:r>
              <a:rPr lang="en-US" altLang="ko-KR" sz="110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100"/>
              <a:t>시즌 한정 </a:t>
            </a:r>
            <a:r>
              <a:rPr lang="ko-KR" altLang="en-US" sz="1100" err="1"/>
              <a:t>굿즈</a:t>
            </a:r>
            <a:r>
              <a:rPr lang="ko-KR" altLang="en-US" sz="1100"/>
              <a:t> 수집</a:t>
            </a:r>
            <a:endParaRPr lang="en-US" altLang="ko-KR" sz="1100"/>
          </a:p>
          <a:p>
            <a:endParaRPr lang="en-US" altLang="ko-KR" sz="1100" b="1"/>
          </a:p>
          <a:p>
            <a:r>
              <a:rPr lang="ko-KR" altLang="en-US" sz="1100" b="1"/>
              <a:t>프리미엄 경험 추구형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/>
              <a:t>리저브 매장 이용자</a:t>
            </a:r>
            <a:r>
              <a:rPr lang="en-US" altLang="ko-KR" sz="1100"/>
              <a:t>,</a:t>
            </a:r>
          </a:p>
          <a:p>
            <a:pPr marL="171450" indent="-171450">
              <a:buFontTx/>
              <a:buChar char="-"/>
            </a:pPr>
            <a:r>
              <a:rPr lang="ko-KR" altLang="en-US" sz="1100"/>
              <a:t>고급형 커피 선호자</a:t>
            </a:r>
            <a:endParaRPr lang="en-US" altLang="ko-KR" sz="1100"/>
          </a:p>
          <a:p>
            <a:endParaRPr lang="en-US" altLang="ko-KR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5EDA4-B061-AD9F-DBFA-BECB26C21F9B}"/>
              </a:ext>
            </a:extLst>
          </p:cNvPr>
          <p:cNvSpPr txBox="1"/>
          <p:nvPr/>
        </p:nvSpPr>
        <p:spPr>
          <a:xfrm>
            <a:off x="4016481" y="1332928"/>
            <a:ext cx="1956619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공간 소비형 </a:t>
            </a:r>
            <a:r>
              <a:rPr lang="en-US" altLang="ko-KR" sz="1100" b="1"/>
              <a:t>VP</a:t>
            </a:r>
            <a:endParaRPr lang="ko-KR" altLang="en-US" sz="1100"/>
          </a:p>
          <a:p>
            <a:r>
              <a:rPr lang="en-US" altLang="ko-KR" sz="1100"/>
              <a:t>- </a:t>
            </a:r>
            <a:r>
              <a:rPr lang="ko-KR" altLang="en-US" sz="1100"/>
              <a:t>프리미엄 분위기의 공간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리저브 매장 </a:t>
            </a:r>
            <a:r>
              <a:rPr lang="en-US" altLang="ko-KR" sz="1100"/>
              <a:t>(</a:t>
            </a:r>
            <a:r>
              <a:rPr lang="ko-KR" altLang="en-US" sz="1100"/>
              <a:t>프리미엄 경험 극대화</a:t>
            </a:r>
            <a:r>
              <a:rPr lang="en-US" altLang="ko-KR" sz="1100"/>
              <a:t>)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오래 머물 수 있는 쾌적한 환경</a:t>
            </a:r>
            <a:endParaRPr lang="en-US" altLang="ko-KR" sz="1100"/>
          </a:p>
          <a:p>
            <a:endParaRPr lang="ko-KR" altLang="en-US" sz="1100"/>
          </a:p>
          <a:p>
            <a:r>
              <a:rPr lang="ko-KR" altLang="en-US" sz="1100" b="1"/>
              <a:t>음료 중심 소비형 </a:t>
            </a:r>
            <a:r>
              <a:rPr lang="en-US" altLang="ko-KR" sz="1100" b="1"/>
              <a:t>VP</a:t>
            </a:r>
            <a:endParaRPr lang="ko-KR" altLang="en-US" sz="1100"/>
          </a:p>
          <a:p>
            <a:r>
              <a:rPr lang="en-US" altLang="ko-KR" sz="1100"/>
              <a:t>- </a:t>
            </a:r>
            <a:r>
              <a:rPr lang="ko-KR" altLang="en-US" sz="1100"/>
              <a:t>어디서나 일관된 품질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빠른 주문</a:t>
            </a:r>
            <a:r>
              <a:rPr lang="en-US" altLang="ko-KR" sz="1100"/>
              <a:t>/</a:t>
            </a:r>
            <a:r>
              <a:rPr lang="ko-KR" altLang="en-US" sz="1100"/>
              <a:t>픽업 </a:t>
            </a:r>
            <a:r>
              <a:rPr lang="en-US" altLang="ko-KR" sz="1100"/>
              <a:t>(</a:t>
            </a:r>
            <a:r>
              <a:rPr lang="ko-KR" altLang="en-US" sz="1100" err="1"/>
              <a:t>사이렌오더</a:t>
            </a:r>
            <a:r>
              <a:rPr lang="en-US" altLang="ko-KR" sz="1100"/>
              <a:t>, </a:t>
            </a:r>
            <a:r>
              <a:rPr lang="ko-KR" altLang="en-US" sz="1100" err="1"/>
              <a:t>드라이브스루</a:t>
            </a:r>
            <a:r>
              <a:rPr lang="en-US" altLang="ko-KR" sz="1100"/>
              <a:t>)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시즌</a:t>
            </a:r>
            <a:r>
              <a:rPr lang="en-US" altLang="ko-KR" sz="1100"/>
              <a:t>/</a:t>
            </a:r>
            <a:r>
              <a:rPr lang="ko-KR" altLang="en-US" sz="1100"/>
              <a:t>지역 한정 메뉴로 새로움 제공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커스텀 옵션으로 나만의 음료</a:t>
            </a:r>
            <a:endParaRPr lang="en-US" altLang="ko-KR" sz="1100"/>
          </a:p>
          <a:p>
            <a:endParaRPr lang="ko-KR" altLang="en-US" sz="1100"/>
          </a:p>
          <a:p>
            <a:r>
              <a:rPr lang="ko-KR" altLang="en-US" sz="1100" b="1" err="1"/>
              <a:t>굿즈</a:t>
            </a:r>
            <a:r>
              <a:rPr lang="en-US" altLang="ko-KR" sz="1100" b="1"/>
              <a:t>/MD </a:t>
            </a:r>
            <a:r>
              <a:rPr lang="ko-KR" altLang="en-US" sz="1100" b="1"/>
              <a:t>구매형 </a:t>
            </a:r>
            <a:r>
              <a:rPr lang="en-US" altLang="ko-KR" sz="1100" b="1"/>
              <a:t>VP</a:t>
            </a:r>
            <a:endParaRPr lang="ko-KR" altLang="en-US" sz="1100"/>
          </a:p>
          <a:p>
            <a:r>
              <a:rPr lang="en-US" altLang="ko-KR" sz="1100"/>
              <a:t>- </a:t>
            </a:r>
            <a:r>
              <a:rPr lang="ko-KR" altLang="en-US" sz="1100" err="1"/>
              <a:t>콜라보</a:t>
            </a:r>
            <a:r>
              <a:rPr lang="en-US" altLang="ko-KR" sz="1100"/>
              <a:t>/</a:t>
            </a:r>
            <a:r>
              <a:rPr lang="ko-KR" altLang="en-US" sz="1100"/>
              <a:t>시즌 한정 </a:t>
            </a:r>
            <a:r>
              <a:rPr lang="ko-KR" altLang="en-US" sz="1100" err="1"/>
              <a:t>굿즈</a:t>
            </a:r>
            <a:r>
              <a:rPr lang="ko-KR" altLang="en-US" sz="1100"/>
              <a:t> 희소성</a:t>
            </a:r>
          </a:p>
          <a:p>
            <a:r>
              <a:rPr lang="en-US" altLang="ko-KR" sz="1100"/>
              <a:t>- </a:t>
            </a:r>
            <a:r>
              <a:rPr lang="ko-KR" altLang="en-US" sz="1100"/>
              <a:t>지역 특화 상품으로 수집 욕구 자극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D286EA-DDE8-3EDC-2F86-D27F705EBCB4}"/>
              </a:ext>
            </a:extLst>
          </p:cNvPr>
          <p:cNvSpPr txBox="1"/>
          <p:nvPr/>
        </p:nvSpPr>
        <p:spPr>
          <a:xfrm>
            <a:off x="5840362" y="3210848"/>
            <a:ext cx="19566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오프라인 매장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 err="1"/>
              <a:t>드라이브스루</a:t>
            </a:r>
            <a:r>
              <a:rPr lang="ko-KR" altLang="en-US" sz="1100" b="1"/>
              <a:t> 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/>
              <a:t>리저브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/>
              <a:t>편의점 음료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/>
              <a:t>마트 스타벅스 캡슐</a:t>
            </a:r>
            <a:endParaRPr lang="en-US" altLang="ko-KR" sz="1100" b="1"/>
          </a:p>
          <a:p>
            <a:endParaRPr lang="en-US" altLang="ko-KR" sz="1100" b="1"/>
          </a:p>
          <a:p>
            <a:r>
              <a:rPr lang="ko-KR" altLang="en-US" sz="1100" b="1"/>
              <a:t>온라인 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/>
              <a:t>카카오 선물하기</a:t>
            </a:r>
            <a:endParaRPr lang="en-US" altLang="ko-KR" sz="1100" b="1"/>
          </a:p>
          <a:p>
            <a:pPr marL="171450" indent="-171450">
              <a:buFontTx/>
              <a:buChar char="-"/>
            </a:pPr>
            <a:r>
              <a:rPr lang="ko-KR" altLang="en-US" sz="1100" b="1"/>
              <a:t>사이렌 오더 </a:t>
            </a:r>
            <a:endParaRPr lang="en-US" altLang="ko-KR" sz="1100" b="1"/>
          </a:p>
          <a:p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6A0BD-AD53-EB7D-8C7C-BA3C75640043}"/>
              </a:ext>
            </a:extLst>
          </p:cNvPr>
          <p:cNvSpPr txBox="1"/>
          <p:nvPr/>
        </p:nvSpPr>
        <p:spPr>
          <a:xfrm>
            <a:off x="5840361" y="1518065"/>
            <a:ext cx="1956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고객 확보</a:t>
            </a:r>
            <a:endParaRPr lang="ko-KR" altLang="en-US" sz="900"/>
          </a:p>
          <a:p>
            <a:r>
              <a:rPr lang="en-US" altLang="ko-KR" sz="900"/>
              <a:t>- </a:t>
            </a:r>
            <a:r>
              <a:rPr lang="ko-KR" altLang="en-US" sz="900"/>
              <a:t>시즌 이벤트 </a:t>
            </a:r>
            <a:r>
              <a:rPr lang="en-US" altLang="ko-KR" sz="900"/>
              <a:t>(</a:t>
            </a:r>
            <a:r>
              <a:rPr lang="ko-KR" altLang="en-US" sz="900"/>
              <a:t>다이어리</a:t>
            </a:r>
            <a:r>
              <a:rPr lang="en-US" altLang="ko-KR" sz="900"/>
              <a:t>, </a:t>
            </a:r>
            <a:r>
              <a:rPr lang="ko-KR" altLang="en-US" sz="900" err="1"/>
              <a:t>프리퀀시</a:t>
            </a:r>
            <a:r>
              <a:rPr lang="en-US" altLang="ko-KR" sz="900"/>
              <a:t>)</a:t>
            </a:r>
            <a:endParaRPr lang="ko-KR" altLang="en-US" sz="900"/>
          </a:p>
          <a:p>
            <a:r>
              <a:rPr lang="en-US" altLang="ko-KR" sz="900"/>
              <a:t>- SNS </a:t>
            </a:r>
            <a:r>
              <a:rPr lang="ko-KR" altLang="en-US" sz="900"/>
              <a:t>마케팅 </a:t>
            </a:r>
            <a:r>
              <a:rPr lang="en-US" altLang="ko-KR" sz="900"/>
              <a:t>/ </a:t>
            </a:r>
            <a:r>
              <a:rPr lang="ko-KR" altLang="en-US" sz="900" err="1"/>
              <a:t>콜라보</a:t>
            </a:r>
            <a:r>
              <a:rPr lang="ko-KR" altLang="en-US" sz="900"/>
              <a:t> 화제성</a:t>
            </a:r>
          </a:p>
          <a:p>
            <a:r>
              <a:rPr lang="en-US" altLang="ko-KR" sz="900"/>
              <a:t>- </a:t>
            </a:r>
            <a:r>
              <a:rPr lang="ko-KR" altLang="en-US" sz="900" err="1"/>
              <a:t>드라이브스루</a:t>
            </a:r>
            <a:r>
              <a:rPr lang="ko-KR" altLang="en-US" sz="900"/>
              <a:t> 입지 확장</a:t>
            </a:r>
          </a:p>
          <a:p>
            <a:r>
              <a:rPr lang="ko-KR" altLang="en-US" sz="900"/>
              <a:t>신규 앱 가입 </a:t>
            </a:r>
            <a:r>
              <a:rPr lang="ko-KR" altLang="en-US" sz="900" err="1"/>
              <a:t>웰컴</a:t>
            </a:r>
            <a:r>
              <a:rPr lang="ko-KR" altLang="en-US" sz="900"/>
              <a:t> 쿠폰</a:t>
            </a:r>
          </a:p>
          <a:p>
            <a:endParaRPr lang="en-US" altLang="ko-KR" sz="900" b="1"/>
          </a:p>
          <a:p>
            <a:r>
              <a:rPr lang="ko-KR" altLang="en-US" sz="900" b="1"/>
              <a:t>고객 유지</a:t>
            </a:r>
            <a:endParaRPr lang="en-US" altLang="ko-KR" sz="900" b="1"/>
          </a:p>
          <a:p>
            <a:pPr marL="171450" indent="-171450">
              <a:buFontTx/>
              <a:buChar char="-"/>
            </a:pPr>
            <a:r>
              <a:rPr lang="ko-KR" altLang="en-US" sz="900"/>
              <a:t>멤버십 사용자에 대한 음료 할인</a:t>
            </a:r>
            <a:endParaRPr lang="en-US" altLang="ko-KR" sz="900"/>
          </a:p>
          <a:p>
            <a:pPr marL="171450" indent="-171450">
              <a:buFontTx/>
              <a:buChar char="-"/>
            </a:pPr>
            <a:r>
              <a:rPr lang="en-US" altLang="ko-KR" sz="900"/>
              <a:t>BUDDY </a:t>
            </a:r>
            <a:r>
              <a:rPr lang="ko-KR" altLang="en-US" sz="900"/>
              <a:t>할인</a:t>
            </a:r>
            <a:r>
              <a:rPr lang="en-US" altLang="ko-KR" sz="900"/>
              <a:t>/ 20</a:t>
            </a:r>
            <a:r>
              <a:rPr lang="ko-KR" altLang="en-US" sz="900"/>
              <a:t>대 할인 </a:t>
            </a:r>
            <a:endParaRPr lang="en-US" altLang="ko-KR" sz="900"/>
          </a:p>
          <a:p>
            <a:pPr marL="171450" indent="-171450">
              <a:buFontTx/>
              <a:buChar char="-"/>
            </a:pPr>
            <a:r>
              <a:rPr lang="ko-KR" altLang="en-US" sz="900"/>
              <a:t>별 적립</a:t>
            </a:r>
            <a:endParaRPr lang="en-US" altLang="ko-KR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FEFCE-D07B-1157-96C2-39AE0D148FE6}"/>
              </a:ext>
            </a:extLst>
          </p:cNvPr>
          <p:cNvSpPr txBox="1"/>
          <p:nvPr/>
        </p:nvSpPr>
        <p:spPr>
          <a:xfrm>
            <a:off x="6098461" y="5016599"/>
            <a:ext cx="1956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무엇을 통해 돈을 버는가</a:t>
            </a:r>
            <a:r>
              <a:rPr lang="en-US" altLang="ko-KR" sz="1100" b="1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0ECDE-AE67-079B-F06A-ECE35CA56DEA}"/>
              </a:ext>
            </a:extLst>
          </p:cNvPr>
          <p:cNvSpPr txBox="1"/>
          <p:nvPr/>
        </p:nvSpPr>
        <p:spPr>
          <a:xfrm>
            <a:off x="5120151" y="5232042"/>
            <a:ext cx="1956619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100" b="1"/>
              <a:t>식음 서비스를 통한 수익 </a:t>
            </a:r>
          </a:p>
          <a:p>
            <a:r>
              <a:rPr lang="en-US" altLang="ko-KR" sz="1100" b="1">
                <a:ea typeface="맑은 고딕"/>
              </a:rPr>
              <a:t>MD/</a:t>
            </a:r>
            <a:r>
              <a:rPr lang="ko-KR" altLang="en-US" sz="1100" b="1" err="1">
                <a:ea typeface="맑은 고딕"/>
              </a:rPr>
              <a:t>굿즈</a:t>
            </a:r>
            <a:endParaRPr lang="ko-KR" altLang="en-US" sz="1100" b="1">
              <a:ea typeface="맑은 고딕"/>
            </a:endParaRPr>
          </a:p>
          <a:p>
            <a:r>
              <a:rPr lang="ko-KR" altLang="en-US" sz="1100" b="1"/>
              <a:t>원두 판매 수익 </a:t>
            </a:r>
          </a:p>
          <a:p>
            <a:r>
              <a:rPr lang="en-US" altLang="ko-KR" sz="1100" b="1"/>
              <a:t>(</a:t>
            </a:r>
            <a:r>
              <a:rPr lang="ko-KR" altLang="en-US" sz="1100" b="1"/>
              <a:t>캡슐</a:t>
            </a:r>
            <a:r>
              <a:rPr lang="en-US" altLang="ko-KR" sz="1100" b="1"/>
              <a:t>, </a:t>
            </a:r>
            <a:r>
              <a:rPr lang="ko-KR" altLang="en-US" sz="1100" b="1"/>
              <a:t>편의점 음료</a:t>
            </a:r>
            <a:r>
              <a:rPr lang="en-US" altLang="ko-KR" sz="1100" b="1"/>
              <a:t>, </a:t>
            </a:r>
            <a:r>
              <a:rPr lang="ko-KR" altLang="en-US" sz="1100" b="1"/>
              <a:t>원두</a:t>
            </a:r>
            <a:r>
              <a:rPr lang="en-US" altLang="ko-KR" sz="1100" b="1"/>
              <a:t>)</a:t>
            </a:r>
          </a:p>
          <a:p>
            <a:r>
              <a:rPr lang="ko-KR" altLang="en-US" sz="1100" b="1"/>
              <a:t>선불카드를 통한 이자수익</a:t>
            </a:r>
          </a:p>
          <a:p>
            <a:r>
              <a:rPr lang="ko-KR" altLang="en-US" sz="1100" b="1">
                <a:ea typeface="맑은 고딕"/>
              </a:rPr>
              <a:t>건물 시세차익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9BA8B-DF1E-00FB-6430-0224701D64AD}"/>
              </a:ext>
            </a:extLst>
          </p:cNvPr>
          <p:cNvSpPr txBox="1"/>
          <p:nvPr/>
        </p:nvSpPr>
        <p:spPr>
          <a:xfrm>
            <a:off x="2276168" y="3318440"/>
            <a:ext cx="17403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물적 자산 </a:t>
            </a:r>
            <a:r>
              <a:rPr lang="en-US" altLang="ko-KR" sz="900" b="1"/>
              <a:t>: </a:t>
            </a:r>
            <a:r>
              <a:rPr lang="ko-KR" altLang="en-US" sz="900" b="1"/>
              <a:t>원두</a:t>
            </a:r>
            <a:r>
              <a:rPr lang="en-US" altLang="ko-KR" sz="900" b="1"/>
              <a:t>, MD </a:t>
            </a:r>
            <a:r>
              <a:rPr lang="ko-KR" altLang="en-US" sz="900" b="1"/>
              <a:t>상품</a:t>
            </a:r>
            <a:r>
              <a:rPr lang="en-US" altLang="ko-KR" sz="900" b="1"/>
              <a:t>, </a:t>
            </a:r>
            <a:r>
              <a:rPr lang="ko-KR" altLang="en-US" sz="900" b="1"/>
              <a:t>매장 내 물품 </a:t>
            </a:r>
            <a:r>
              <a:rPr lang="en-US" altLang="ko-KR" sz="900" b="1"/>
              <a:t>, </a:t>
            </a:r>
            <a:r>
              <a:rPr lang="ko-KR" altLang="en-US" sz="900" b="1"/>
              <a:t>유통망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/>
              <a:t>인적 자원 </a:t>
            </a:r>
            <a:r>
              <a:rPr lang="en-US" altLang="ko-KR" sz="900" b="1"/>
              <a:t>: </a:t>
            </a:r>
            <a:r>
              <a:rPr lang="ko-KR" altLang="en-US" sz="900" b="1"/>
              <a:t>직원</a:t>
            </a:r>
            <a:r>
              <a:rPr lang="en-US" altLang="ko-KR" sz="900" b="1"/>
              <a:t>, </a:t>
            </a:r>
            <a:r>
              <a:rPr lang="ko-KR" altLang="en-US" sz="900" b="1"/>
              <a:t>메뉴 개발자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/>
              <a:t>지적 자산 </a:t>
            </a:r>
            <a:r>
              <a:rPr lang="en-US" altLang="ko-KR" sz="900" b="1"/>
              <a:t>: </a:t>
            </a:r>
            <a:r>
              <a:rPr lang="ko-KR" altLang="en-US" sz="900" b="1"/>
              <a:t>레시피</a:t>
            </a:r>
            <a:r>
              <a:rPr lang="en-US" altLang="ko-KR" sz="900" b="1"/>
              <a:t>, </a:t>
            </a:r>
            <a:r>
              <a:rPr lang="ko-KR" altLang="en-US" sz="900" b="1"/>
              <a:t>로고</a:t>
            </a:r>
            <a:r>
              <a:rPr lang="en-US" altLang="ko-KR" sz="900" b="1"/>
              <a:t>, </a:t>
            </a:r>
            <a:r>
              <a:rPr lang="ko-KR" altLang="en-US" sz="900" b="1"/>
              <a:t>서비스 철학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/>
              <a:t>재무 자원 </a:t>
            </a:r>
            <a:r>
              <a:rPr lang="en-US" altLang="ko-KR" sz="900" b="1"/>
              <a:t>: </a:t>
            </a:r>
            <a:r>
              <a:rPr lang="ko-KR" altLang="en-US" sz="900" b="1"/>
              <a:t>선불카드 충전 잔액</a:t>
            </a:r>
            <a:r>
              <a:rPr lang="en-US" altLang="ko-KR" sz="900" b="1"/>
              <a:t>, </a:t>
            </a:r>
            <a:r>
              <a:rPr lang="ko-KR" altLang="en-US" sz="900" b="1"/>
              <a:t>스타벅스 </a:t>
            </a:r>
            <a:endParaRPr lang="en-US" altLang="ko-KR"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2CA03-2444-8A20-CAE4-69C9F7236F55}"/>
              </a:ext>
            </a:extLst>
          </p:cNvPr>
          <p:cNvSpPr txBox="1"/>
          <p:nvPr/>
        </p:nvSpPr>
        <p:spPr>
          <a:xfrm>
            <a:off x="2384314" y="1518065"/>
            <a:ext cx="16321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900" b="1"/>
              <a:t>직원 교육 </a:t>
            </a:r>
            <a:endParaRPr lang="en-US" altLang="ko-KR" sz="900" b="1"/>
          </a:p>
          <a:p>
            <a:pPr marL="171450" indent="-171450">
              <a:buFontTx/>
              <a:buChar char="-"/>
            </a:pPr>
            <a:r>
              <a:rPr lang="ko-KR" altLang="en-US" sz="900" b="1"/>
              <a:t>메뉴 개발</a:t>
            </a:r>
            <a:endParaRPr lang="en-US" altLang="ko-KR" sz="900" b="1"/>
          </a:p>
          <a:p>
            <a:pPr marL="171450" indent="-171450">
              <a:buFontTx/>
              <a:buChar char="-"/>
            </a:pPr>
            <a:r>
              <a:rPr lang="ko-KR" altLang="en-US" sz="900" b="1"/>
              <a:t>원두 소싱</a:t>
            </a:r>
          </a:p>
          <a:p>
            <a:pPr marL="171450" indent="-171450">
              <a:buFontTx/>
              <a:buChar char="-"/>
            </a:pPr>
            <a:r>
              <a:rPr lang="ko-KR" altLang="en-US" sz="900" b="1"/>
              <a:t>입지 선정</a:t>
            </a:r>
            <a:endParaRPr lang="en-US" altLang="ko-KR" sz="900" b="1"/>
          </a:p>
          <a:p>
            <a:pPr marL="171450" indent="-171450">
              <a:buFontTx/>
              <a:buChar char="-"/>
            </a:pPr>
            <a:r>
              <a:rPr lang="ko-KR" altLang="en-US" sz="900" b="1"/>
              <a:t>앱 개발</a:t>
            </a:r>
            <a:endParaRPr lang="en-US" altLang="ko-KR" sz="9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33729E-A6D4-AD7A-F022-F2892EFE3C0D}"/>
              </a:ext>
            </a:extLst>
          </p:cNvPr>
          <p:cNvSpPr txBox="1"/>
          <p:nvPr/>
        </p:nvSpPr>
        <p:spPr>
          <a:xfrm>
            <a:off x="504113" y="5233323"/>
            <a:ext cx="2227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매입 원가  </a:t>
            </a:r>
            <a:r>
              <a:rPr lang="en-US" altLang="ko-KR" sz="900" b="1"/>
              <a:t>(</a:t>
            </a:r>
            <a:r>
              <a:rPr lang="ko-KR" altLang="en-US" sz="900" b="1"/>
              <a:t>원두</a:t>
            </a:r>
            <a:r>
              <a:rPr lang="en-US" altLang="ko-KR" sz="900" b="1"/>
              <a:t>, </a:t>
            </a:r>
            <a:r>
              <a:rPr lang="ko-KR" altLang="en-US" sz="900" b="1"/>
              <a:t>우유</a:t>
            </a:r>
            <a:r>
              <a:rPr lang="en-US" altLang="ko-KR" sz="900" b="1"/>
              <a:t>, </a:t>
            </a:r>
            <a:r>
              <a:rPr lang="ko-KR" altLang="en-US" sz="900" b="1"/>
              <a:t>시럽</a:t>
            </a:r>
            <a:r>
              <a:rPr lang="en-US" altLang="ko-KR" sz="900" b="1"/>
              <a:t>, </a:t>
            </a:r>
            <a:r>
              <a:rPr lang="ko-KR" altLang="en-US" sz="900" b="1"/>
              <a:t>베이커리</a:t>
            </a:r>
            <a:r>
              <a:rPr lang="en-US" altLang="ko-KR" sz="900" b="1"/>
              <a:t>)</a:t>
            </a:r>
          </a:p>
          <a:p>
            <a:r>
              <a:rPr lang="ko-KR" altLang="en-US" sz="900" b="1"/>
              <a:t>매장 운영비 </a:t>
            </a:r>
            <a:r>
              <a:rPr lang="en-US" altLang="ko-KR" sz="900" b="1"/>
              <a:t>(</a:t>
            </a:r>
            <a:r>
              <a:rPr lang="ko-KR" altLang="en-US" sz="900" b="1"/>
              <a:t>임차료</a:t>
            </a:r>
            <a:r>
              <a:rPr lang="en-US" altLang="ko-KR" sz="900" b="1"/>
              <a:t>, </a:t>
            </a:r>
            <a:r>
              <a:rPr lang="ko-KR" altLang="en-US" sz="900" b="1"/>
              <a:t>전기</a:t>
            </a:r>
            <a:r>
              <a:rPr lang="en-US" altLang="ko-KR" sz="900" b="1"/>
              <a:t>/</a:t>
            </a:r>
            <a:r>
              <a:rPr lang="ko-KR" altLang="en-US" sz="900" b="1"/>
              <a:t>수도</a:t>
            </a:r>
            <a:r>
              <a:rPr lang="en-US" altLang="ko-KR" sz="900" b="1"/>
              <a:t>)</a:t>
            </a:r>
          </a:p>
          <a:p>
            <a:r>
              <a:rPr lang="ko-KR" altLang="en-US" sz="900" b="1"/>
              <a:t>인건비 </a:t>
            </a:r>
            <a:r>
              <a:rPr lang="en-US" altLang="ko-KR" sz="900" b="1"/>
              <a:t>(</a:t>
            </a:r>
            <a:r>
              <a:rPr lang="ko-KR" altLang="en-US" sz="900" b="1"/>
              <a:t>직원 교육비</a:t>
            </a:r>
            <a:r>
              <a:rPr lang="en-US" altLang="ko-KR" sz="900" b="1"/>
              <a:t>, </a:t>
            </a:r>
            <a:r>
              <a:rPr lang="ko-KR" altLang="en-US" sz="900" b="1"/>
              <a:t>임금</a:t>
            </a:r>
            <a:r>
              <a:rPr lang="en-US" altLang="ko-KR" sz="900" b="1"/>
              <a:t>)</a:t>
            </a:r>
          </a:p>
          <a:p>
            <a:r>
              <a:rPr lang="ko-KR" altLang="en-US" sz="900" b="1"/>
              <a:t>물류 및 </a:t>
            </a:r>
            <a:r>
              <a:rPr lang="ko-KR" altLang="en-US" sz="900" b="1" err="1"/>
              <a:t>유통비</a:t>
            </a:r>
            <a:endParaRPr lang="en-US" altLang="ko-KR" sz="900" b="1"/>
          </a:p>
          <a:p>
            <a:r>
              <a:rPr lang="ko-KR" altLang="en-US" sz="900" b="1"/>
              <a:t>앱 운영비</a:t>
            </a:r>
            <a:endParaRPr lang="en-US" altLang="ko-KR" sz="900" b="1"/>
          </a:p>
          <a:p>
            <a:r>
              <a:rPr lang="en-US" altLang="ko-KR" sz="900" b="1"/>
              <a:t>R&amp;D</a:t>
            </a:r>
            <a:r>
              <a:rPr lang="ko-KR" altLang="en-US" sz="900" b="1"/>
              <a:t> </a:t>
            </a:r>
            <a:r>
              <a:rPr lang="en-US" altLang="ko-KR" sz="900" b="1"/>
              <a:t>(</a:t>
            </a:r>
            <a:r>
              <a:rPr lang="ko-KR" altLang="en-US" sz="900" b="1" err="1"/>
              <a:t>신메뉴</a:t>
            </a:r>
            <a:r>
              <a:rPr lang="ko-KR" altLang="en-US" sz="900" b="1"/>
              <a:t> 개발</a:t>
            </a:r>
            <a:r>
              <a:rPr lang="en-US" altLang="ko-KR" sz="900" b="1"/>
              <a:t>, </a:t>
            </a:r>
            <a:r>
              <a:rPr lang="ko-KR" altLang="en-US" sz="900" b="1"/>
              <a:t>원두 연구</a:t>
            </a:r>
            <a:r>
              <a:rPr lang="en-US" altLang="ko-KR" sz="900" b="1"/>
              <a:t>)</a:t>
            </a:r>
          </a:p>
          <a:p>
            <a:r>
              <a:rPr lang="ko-KR" altLang="en-US" sz="900" b="1"/>
              <a:t>마케팅</a:t>
            </a:r>
            <a:r>
              <a:rPr lang="en-US" altLang="ko-KR" sz="900" b="1"/>
              <a:t>/</a:t>
            </a:r>
            <a:r>
              <a:rPr lang="ko-KR" altLang="en-US" sz="900" b="1"/>
              <a:t>광고비 </a:t>
            </a:r>
            <a:endParaRPr lang="en-US" altLang="ko-KR" sz="900" b="1"/>
          </a:p>
          <a:p>
            <a:r>
              <a:rPr lang="ko-KR" altLang="en-US" sz="900" b="1"/>
              <a:t>로열티</a:t>
            </a:r>
            <a:endParaRPr lang="en-US" altLang="ko-KR" sz="9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CA75-39B5-8F96-E66A-969C8E70A219}"/>
              </a:ext>
            </a:extLst>
          </p:cNvPr>
          <p:cNvSpPr txBox="1"/>
          <p:nvPr/>
        </p:nvSpPr>
        <p:spPr>
          <a:xfrm>
            <a:off x="504113" y="1634390"/>
            <a:ext cx="1602247" cy="27238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900" b="1">
                <a:ea typeface="맑은 고딕"/>
              </a:rPr>
              <a:t>원두 </a:t>
            </a:r>
            <a:r>
              <a:rPr lang="en-US" altLang="ko-KR" sz="900" b="1">
                <a:ea typeface="맑은 고딕"/>
              </a:rPr>
              <a:t>/ </a:t>
            </a:r>
            <a:r>
              <a:rPr lang="ko-KR" altLang="en-US" sz="900" b="1">
                <a:ea typeface="맑은 고딕"/>
              </a:rPr>
              <a:t>우유 농장  (서울우유, 남양유업)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 err="1">
                <a:ea typeface="맑은 고딕"/>
              </a:rPr>
              <a:t>콜라보</a:t>
            </a:r>
            <a:r>
              <a:rPr lang="ko-KR" altLang="en-US" sz="900" b="1">
                <a:ea typeface="맑은 고딕"/>
              </a:rPr>
              <a:t> 브랜드 </a:t>
            </a:r>
            <a:endParaRPr lang="en-US" altLang="ko-KR" sz="900" b="1">
              <a:ea typeface="맑은 고딕"/>
            </a:endParaRPr>
          </a:p>
          <a:p>
            <a:endParaRPr lang="en-US" altLang="ko-KR" sz="900" b="1"/>
          </a:p>
          <a:p>
            <a:r>
              <a:rPr lang="ko-KR" altLang="en-US" sz="900" b="1"/>
              <a:t>해외 본사 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>
                <a:ea typeface="맑은 고딕"/>
              </a:rPr>
              <a:t>유통 업체  (CJ 대한통운)</a:t>
            </a:r>
            <a:endParaRPr lang="en-US" altLang="ko-KR" sz="900" b="1"/>
          </a:p>
          <a:p>
            <a:endParaRPr lang="en-US" altLang="ko-KR" sz="900" b="1"/>
          </a:p>
          <a:p>
            <a:r>
              <a:rPr lang="ko-KR" altLang="en-US" sz="900" b="1">
                <a:ea typeface="맑은 고딕"/>
              </a:rPr>
              <a:t>제휴 카드사 (삼성카드, </a:t>
            </a:r>
            <a:r>
              <a:rPr lang="ko-KR" altLang="en-US" sz="900" b="1" err="1">
                <a:ea typeface="맑은 고딕"/>
              </a:rPr>
              <a:t>우리카드</a:t>
            </a:r>
            <a:r>
              <a:rPr lang="ko-KR" altLang="en-US" sz="900" b="1">
                <a:ea typeface="맑은 고딕"/>
              </a:rPr>
              <a:t> 등등)</a:t>
            </a:r>
          </a:p>
          <a:p>
            <a:endParaRPr lang="en-US" altLang="ko-KR" sz="900" b="1"/>
          </a:p>
          <a:p>
            <a:r>
              <a:rPr lang="ko-KR" altLang="en-US" sz="900" b="1"/>
              <a:t>부동산</a:t>
            </a:r>
          </a:p>
          <a:p>
            <a:endParaRPr lang="en-US" altLang="ko-KR" sz="900" b="1"/>
          </a:p>
          <a:p>
            <a:r>
              <a:rPr lang="ko-KR" altLang="en-US" sz="900" b="1">
                <a:ea typeface="맑은 고딕"/>
              </a:rPr>
              <a:t>디저트 납품업체 (SPC, 신세계 </a:t>
            </a:r>
            <a:r>
              <a:rPr lang="ko-KR" altLang="en-US" sz="900" b="1" err="1">
                <a:ea typeface="맑은 고딕"/>
              </a:rPr>
              <a:t>푸드</a:t>
            </a:r>
            <a:r>
              <a:rPr lang="ko-KR" altLang="en-US" sz="900" b="1">
                <a:ea typeface="맑은 고딕"/>
              </a:rPr>
              <a:t>)</a:t>
            </a:r>
          </a:p>
          <a:p>
            <a:endParaRPr lang="en-US" altLang="ko-KR" sz="900" b="1"/>
          </a:p>
          <a:p>
            <a:r>
              <a:rPr lang="en-US" altLang="ko-KR" sz="900" b="1"/>
              <a:t>IT/</a:t>
            </a:r>
            <a:r>
              <a:rPr lang="ko-KR" altLang="en-US" sz="900" b="1"/>
              <a:t>결제 파트너</a:t>
            </a:r>
            <a:r>
              <a:rPr lang="en-US" altLang="ko-KR" sz="900" b="1"/>
              <a:t>(</a:t>
            </a:r>
            <a:r>
              <a:rPr lang="ko-KR" altLang="en-US" sz="900" b="1"/>
              <a:t>카카오페이</a:t>
            </a:r>
            <a:r>
              <a:rPr lang="en-US" altLang="ko-KR" sz="900" b="1"/>
              <a:t>, </a:t>
            </a:r>
            <a:r>
              <a:rPr lang="ko-KR" altLang="en-US" sz="900" b="1"/>
              <a:t>네이버페이</a:t>
            </a:r>
            <a:r>
              <a:rPr lang="en-US" altLang="ko-KR" sz="9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781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209A-77A5-AA49-19AA-AAF45A1E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AC3F8-1279-3116-CB9C-6D705222BF19}"/>
              </a:ext>
            </a:extLst>
          </p:cNvPr>
          <p:cNvSpPr txBox="1"/>
          <p:nvPr/>
        </p:nvSpPr>
        <p:spPr>
          <a:xfrm>
            <a:off x="8351520" y="586740"/>
            <a:ext cx="13258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err="1"/>
              <a:t>파이브아이즈</a:t>
            </a:r>
            <a:endParaRPr lang="ko-KR" altLang="en-US" sz="15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31CEA-93F2-412A-80F1-8BDA577E0E8F}"/>
              </a:ext>
            </a:extLst>
          </p:cNvPr>
          <p:cNvSpPr txBox="1"/>
          <p:nvPr/>
        </p:nvSpPr>
        <p:spPr>
          <a:xfrm>
            <a:off x="4290060" y="217855"/>
            <a:ext cx="132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Airbnb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5BE1C-B6F4-D9A0-AD9F-4CAFEAA07D38}"/>
              </a:ext>
            </a:extLst>
          </p:cNvPr>
          <p:cNvSpPr txBox="1"/>
          <p:nvPr/>
        </p:nvSpPr>
        <p:spPr>
          <a:xfrm>
            <a:off x="414491" y="1482504"/>
            <a:ext cx="172064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100"/>
              <a:t>b2b</a:t>
            </a:r>
            <a:r>
              <a:rPr lang="ko-KR" altLang="en-US" sz="1100"/>
              <a:t> 호스트 </a:t>
            </a:r>
            <a:r>
              <a:rPr lang="en-US" altLang="ko-KR" sz="1100"/>
              <a:t>(</a:t>
            </a:r>
            <a:r>
              <a:rPr lang="ko-KR" altLang="en-US" sz="1100"/>
              <a:t>개인</a:t>
            </a:r>
            <a:r>
              <a:rPr lang="en-US" altLang="ko-KR" sz="1100"/>
              <a:t>, </a:t>
            </a:r>
            <a:r>
              <a:rPr lang="ko-KR" altLang="en-US" sz="1100"/>
              <a:t>호텔</a:t>
            </a:r>
            <a:r>
              <a:rPr lang="en-US" altLang="ko-KR" sz="1100"/>
              <a:t>, </a:t>
            </a:r>
            <a:r>
              <a:rPr lang="ko-KR" altLang="en-US" sz="1100"/>
              <a:t>부동산 소유자</a:t>
            </a:r>
            <a:r>
              <a:rPr lang="en-US" altLang="ko-KR" sz="110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결제 서비스 제공업체 </a:t>
            </a:r>
            <a:r>
              <a:rPr lang="en-US" altLang="ko-KR" sz="1100"/>
              <a:t>(</a:t>
            </a:r>
            <a:r>
              <a:rPr lang="ko-KR" altLang="en-US" sz="1100"/>
              <a:t>카드사</a:t>
            </a:r>
            <a:r>
              <a:rPr lang="en-US" altLang="ko-KR" sz="1100"/>
              <a:t>, </a:t>
            </a:r>
            <a:r>
              <a:rPr lang="ko-KR" altLang="en-US" sz="1100" err="1"/>
              <a:t>핀테크</a:t>
            </a:r>
            <a:r>
              <a:rPr lang="ko-KR" altLang="en-US" sz="1100"/>
              <a:t> 기업</a:t>
            </a:r>
            <a:r>
              <a:rPr lang="en-US" altLang="ko-KR" sz="110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여행 관련 파트너 </a:t>
            </a:r>
            <a:r>
              <a:rPr lang="en-US" altLang="ko-KR" sz="1100"/>
              <a:t>(</a:t>
            </a:r>
            <a:r>
              <a:rPr lang="ko-KR" altLang="en-US" sz="1100"/>
              <a:t>항공사</a:t>
            </a:r>
            <a:r>
              <a:rPr lang="en-US" altLang="ko-KR" sz="1100"/>
              <a:t>, </a:t>
            </a:r>
            <a:r>
              <a:rPr lang="ko-KR" altLang="en-US" sz="1100"/>
              <a:t>관광 플랫폼</a:t>
            </a:r>
            <a:r>
              <a:rPr lang="en-US" altLang="ko-KR" sz="110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지역 정부 및 규제 기관</a:t>
            </a:r>
            <a:endParaRPr lang="en-US" altLang="ko-KR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숙소 마케팅 전문가 </a:t>
            </a:r>
            <a:r>
              <a:rPr lang="en-US" altLang="ko-KR" sz="1100"/>
              <a:t>(</a:t>
            </a:r>
            <a:r>
              <a:rPr lang="ko-KR" altLang="en-US" sz="1100" err="1"/>
              <a:t>포토그래퍼</a:t>
            </a:r>
            <a:r>
              <a:rPr lang="ko-KR" altLang="en-US" sz="1100"/>
              <a:t> 등</a:t>
            </a:r>
            <a:r>
              <a:rPr lang="en-US" altLang="ko-KR" sz="1100"/>
              <a:t>)</a:t>
            </a:r>
            <a:endParaRPr lang="ko-KR" alt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보험사 </a:t>
            </a:r>
            <a:r>
              <a:rPr lang="en-US" altLang="ko-KR" sz="1100"/>
              <a:t>(</a:t>
            </a:r>
            <a:r>
              <a:rPr lang="ko-KR" altLang="en-US" sz="1100"/>
              <a:t>호스트 보호 프로그램</a:t>
            </a:r>
            <a:r>
              <a:rPr lang="en-US" altLang="ko-KR" sz="1100"/>
              <a:t>)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9A1A9EB-9BC8-CC48-7FFA-0F3EFFD8C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787" y="1256775"/>
            <a:ext cx="1808809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플랫폼 개발 및 유지 (웹/앱)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사용자 매칭 (게스트 ↔ 호스트)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신뢰 시스템 구축 (리뷰, 인증)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고객 지원 및 분쟁 해결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마케팅 및 글로벌 확장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0FCF7-472F-69F0-3339-C0082EFE9EF7}"/>
              </a:ext>
            </a:extLst>
          </p:cNvPr>
          <p:cNvSpPr txBox="1"/>
          <p:nvPr/>
        </p:nvSpPr>
        <p:spPr>
          <a:xfrm>
            <a:off x="4072964" y="1666624"/>
            <a:ext cx="18877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1"/>
              <a:t>[</a:t>
            </a:r>
            <a:r>
              <a:rPr lang="ko-KR" altLang="en-US" sz="1100" b="1"/>
              <a:t>공통</a:t>
            </a:r>
            <a:r>
              <a:rPr lang="en-US" altLang="ko-KR" sz="1100" b="1"/>
              <a:t>]</a:t>
            </a:r>
          </a:p>
          <a:p>
            <a:pPr>
              <a:buNone/>
            </a:pPr>
            <a:r>
              <a:rPr lang="ko-KR" altLang="en-US" sz="1100" b="1"/>
              <a:t>신뢰 기반의 게스트</a:t>
            </a:r>
            <a:r>
              <a:rPr lang="en-US" altLang="ko-KR" sz="1100" b="1"/>
              <a:t>-</a:t>
            </a:r>
            <a:r>
              <a:rPr lang="ko-KR" altLang="en-US" sz="1100" b="1"/>
              <a:t>호스트 연결</a:t>
            </a:r>
            <a:endParaRPr lang="en-US" altLang="ko-KR" sz="1100" b="1"/>
          </a:p>
          <a:p>
            <a:pPr>
              <a:buNone/>
            </a:pPr>
            <a:r>
              <a:rPr lang="ko-KR" altLang="en-US" sz="1100" b="1"/>
              <a:t>간편한 예약 및 관리 시스템</a:t>
            </a:r>
            <a:endParaRPr lang="en-US" altLang="ko-KR" sz="1100" b="1"/>
          </a:p>
          <a:p>
            <a:pPr>
              <a:buNone/>
            </a:pPr>
            <a:endParaRPr lang="en-US" altLang="ko-KR" sz="1100" b="1"/>
          </a:p>
          <a:p>
            <a:pPr>
              <a:buNone/>
            </a:pPr>
            <a:r>
              <a:rPr lang="en-US" altLang="ko-KR" sz="1100" b="1"/>
              <a:t>1. </a:t>
            </a:r>
            <a:r>
              <a:rPr lang="ko-KR" altLang="en-US" sz="1100" b="1"/>
              <a:t>게스트 </a:t>
            </a:r>
            <a:r>
              <a:rPr lang="en-US" altLang="ko-KR" sz="1100" b="1"/>
              <a:t>VP</a:t>
            </a:r>
            <a:endParaRPr lang="ko-KR" alt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호텔보다 다양한 숙소 선택</a:t>
            </a:r>
            <a:endParaRPr lang="en-US" altLang="ko-KR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더 넓은 위치 선택지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현지 맞춤 경험 중심의 여행</a:t>
            </a:r>
            <a:r>
              <a:rPr lang="en-US" altLang="ko-KR" sz="1100"/>
              <a:t>(</a:t>
            </a:r>
            <a:r>
              <a:rPr lang="ko-KR" altLang="en-US" sz="1100"/>
              <a:t>현지 가정집</a:t>
            </a:r>
            <a:r>
              <a:rPr lang="en-US" altLang="ko-KR" sz="1100"/>
              <a:t>, </a:t>
            </a:r>
            <a:r>
              <a:rPr lang="ko-KR" altLang="en-US" sz="1100"/>
              <a:t>현지 프로그램</a:t>
            </a:r>
            <a:r>
              <a:rPr lang="en-US" altLang="ko-KR" sz="1100"/>
              <a:t>)</a:t>
            </a:r>
            <a:r>
              <a:rPr lang="ko-KR" altLang="en-US" sz="1100"/>
              <a:t> </a:t>
            </a:r>
            <a:endParaRPr lang="en-US" altLang="ko-KR" sz="1100"/>
          </a:p>
          <a:p>
            <a:pPr>
              <a:buFont typeface="Arial" panose="020B0604020202020204" pitchFamily="34" charset="0"/>
              <a:buChar char="•"/>
            </a:pPr>
            <a:endParaRPr lang="en-US" altLang="ko-KR" sz="1100" b="1"/>
          </a:p>
          <a:p>
            <a:pPr>
              <a:buNone/>
            </a:pPr>
            <a:r>
              <a:rPr lang="en-US" altLang="ko-KR" sz="1100" b="1"/>
              <a:t>2. </a:t>
            </a:r>
            <a:r>
              <a:rPr lang="ko-KR" altLang="en-US" sz="1100" b="1"/>
              <a:t>호스트 </a:t>
            </a:r>
            <a:r>
              <a:rPr lang="en-US" altLang="ko-KR" sz="1100" b="1"/>
              <a:t>VP</a:t>
            </a:r>
            <a:endParaRPr lang="ko-KR" alt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유휴 공간으로 수익 창출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글로벌 고객 접근성 </a:t>
            </a:r>
            <a:r>
              <a:rPr lang="en-US" altLang="ko-KR" sz="1100"/>
              <a:t>/</a:t>
            </a:r>
            <a:r>
              <a:rPr lang="ko-KR" altLang="en-US" sz="1100"/>
              <a:t>효과적인 숙소 홍보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6B17F69-60C1-55E6-5E84-3490CE09A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756" y="1414779"/>
            <a:ext cx="1995948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en-US" sz="105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고객 확보</a:t>
            </a:r>
            <a:endParaRPr kumimoji="0" lang="en-US" altLang="ko-KR" sz="105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05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신규 가입자 할인 프로모션</a:t>
            </a:r>
            <a:endParaRPr kumimoji="0" lang="en-US" altLang="ko-KR" sz="105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050">
                <a:latin typeface="Arial" panose="020B0604020202020204" pitchFamily="34" charset="0"/>
              </a:rPr>
              <a:t>호스트 대상 서비스 활용 가이드라인 제공</a:t>
            </a:r>
            <a:endParaRPr kumimoji="0" lang="en-US" altLang="ko-KR" sz="105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50">
                <a:latin typeface="Arial" panose="020B0604020202020204" pitchFamily="34" charset="0"/>
              </a:rPr>
              <a:t>2. </a:t>
            </a:r>
            <a:r>
              <a:rPr lang="ko-KR" altLang="en-US" sz="1050">
                <a:latin typeface="Arial" panose="020B0604020202020204" pitchFamily="34" charset="0"/>
              </a:rPr>
              <a:t>고객 유지</a:t>
            </a:r>
            <a:endParaRPr lang="en-US" altLang="ko-KR" sz="105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050">
                <a:latin typeface="Arial" panose="020B0604020202020204" pitchFamily="34" charset="0"/>
              </a:rPr>
              <a:t>개인 맞춤 추천 서비스</a:t>
            </a:r>
            <a:endParaRPr lang="en-US" altLang="ko-KR" sz="105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050" err="1">
                <a:latin typeface="Arial" panose="020B0604020202020204" pitchFamily="34" charset="0"/>
              </a:rPr>
              <a:t>슈퍼호스트</a:t>
            </a:r>
            <a:r>
              <a:rPr lang="ko-KR" altLang="en-US" sz="1050">
                <a:latin typeface="Arial" panose="020B0604020202020204" pitchFamily="34" charset="0"/>
              </a:rPr>
              <a:t> </a:t>
            </a:r>
            <a:r>
              <a:rPr lang="ko-KR" altLang="en-US" sz="1050" err="1">
                <a:latin typeface="Arial" panose="020B0604020202020204" pitchFamily="34" charset="0"/>
              </a:rPr>
              <a:t>뱃지</a:t>
            </a:r>
            <a:r>
              <a:rPr lang="ko-KR" altLang="en-US" sz="1050">
                <a:latin typeface="Arial" panose="020B0604020202020204" pitchFamily="34" charset="0"/>
              </a:rPr>
              <a:t> 제도</a:t>
            </a:r>
            <a:endParaRPr lang="en-US" altLang="ko-KR" sz="105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3. </a:t>
            </a:r>
            <a:r>
              <a:rPr kumimoji="0" lang="ko-KR" altLang="en-US" sz="105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매출 성장 촉진</a:t>
            </a:r>
            <a:endParaRPr kumimoji="0" lang="en-US" altLang="ko-KR" sz="105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05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체험 프로그램 연계</a:t>
            </a:r>
            <a:endParaRPr kumimoji="0" lang="ko-KR" altLang="ko-KR" sz="105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2D4ED00-6DE8-6887-B168-C6266EF4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240" y="1645856"/>
            <a:ext cx="172064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>
                <a:latin typeface="Arial" panose="020B0604020202020204" pitchFamily="34" charset="0"/>
              </a:rPr>
              <a:t>1. </a:t>
            </a:r>
            <a:r>
              <a:rPr kumimoji="0" lang="ko-KR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게스트</a:t>
            </a:r>
            <a:endParaRPr kumimoji="0" lang="ko-KR" altLang="ko-KR" sz="105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ko-KR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 이상의 숙소를 같이 쓰고 싶은 </a:t>
            </a:r>
            <a:r>
              <a: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여행객 </a:t>
            </a:r>
            <a:endParaRPr lang="en-US" altLang="ko-KR" sz="105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개인, 가족, 출장자</a:t>
            </a:r>
            <a:endParaRPr lang="en-US" altLang="ko-KR" sz="105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050">
                <a:ea typeface="맑은 고딕"/>
              </a:rPr>
              <a:t>여행 중에도 식사 조리, 일반 가정집의 경험을 원하는 고객</a:t>
            </a:r>
            <a:endParaRPr lang="en-US" altLang="ko-KR" sz="1050">
              <a:ea typeface="맑은 고딕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050">
                <a:latin typeface="Arial" panose="020B0604020202020204" pitchFamily="34" charset="0"/>
              </a:rPr>
              <a:t>체험 참여 고객 </a:t>
            </a:r>
            <a:endParaRPr lang="en-US" altLang="ko-KR" sz="105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50">
                <a:latin typeface="Arial" panose="020B0604020202020204" pitchFamily="34" charset="0"/>
              </a:rPr>
              <a:t>2. </a:t>
            </a:r>
            <a:r>
              <a:rPr kumimoji="0" lang="ko-KR" altLang="ko-KR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숙소 제공자 (호스트)</a:t>
            </a:r>
            <a:endParaRPr kumimoji="0" lang="en-US" altLang="ko-KR" sz="105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>
                <a:ea typeface="맑은 고딕"/>
              </a:rPr>
              <a:t>장기적으로 본인의 집을 빈 집으로 두어야 하는 집주인들</a:t>
            </a:r>
            <a:endParaRPr lang="en-US" altLang="ko-KR" sz="1050"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>
                <a:ea typeface="맑은 고딕"/>
              </a:rPr>
              <a:t>일 외에 부수입을 얻고자 하는 사람들</a:t>
            </a:r>
            <a:endParaRPr lang="en-US" altLang="ko-KR" sz="1050"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>
                <a:ea typeface="맑은 고딕"/>
              </a:rPr>
              <a:t>다양한 사람들을 만나는 것을 즐기는 사람들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4547CCB-DFDD-EF88-FCDC-71DEEDAD1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281" y="3323672"/>
            <a:ext cx="189186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모바일 앱 / 웹사이트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온라인 광고 (SNS, 검색)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파트너십 (여행 플랫폼 등)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659A0-0E19-4417-8C42-A0DAC4B06A39}"/>
              </a:ext>
            </a:extLst>
          </p:cNvPr>
          <p:cNvSpPr txBox="1"/>
          <p:nvPr/>
        </p:nvSpPr>
        <p:spPr>
          <a:xfrm>
            <a:off x="2207129" y="3285199"/>
            <a:ext cx="180880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1. </a:t>
            </a:r>
            <a:r>
              <a:rPr lang="ko-KR" altLang="en-US" sz="1100"/>
              <a:t>물적자산</a:t>
            </a:r>
            <a:endParaRPr lang="en-US" altLang="ko-KR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플랫폼 기술 </a:t>
            </a:r>
            <a:r>
              <a:rPr lang="en-US" altLang="ko-KR" sz="1100"/>
              <a:t>(</a:t>
            </a:r>
            <a:r>
              <a:rPr lang="ko-KR" altLang="en-US" sz="1100"/>
              <a:t>앱</a:t>
            </a:r>
            <a:r>
              <a:rPr lang="en-US" altLang="ko-KR" sz="1100"/>
              <a:t>, </a:t>
            </a:r>
            <a:r>
              <a:rPr lang="ko-KR" altLang="en-US" sz="1100"/>
              <a:t>알고리즘</a:t>
            </a:r>
            <a:r>
              <a:rPr lang="en-US" altLang="ko-KR" sz="1100"/>
              <a:t>) </a:t>
            </a:r>
          </a:p>
          <a:p>
            <a:r>
              <a:rPr lang="en-US" altLang="ko-KR" sz="1100"/>
              <a:t>2. </a:t>
            </a:r>
            <a:r>
              <a:rPr lang="ko-KR" altLang="en-US" sz="1100"/>
              <a:t>지적자산</a:t>
            </a:r>
            <a:endParaRPr lang="en-US" altLang="ko-KR" sz="11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브랜드 신뢰도</a:t>
            </a:r>
            <a:r>
              <a:rPr lang="en-US" altLang="ko-KR" sz="1100"/>
              <a:t>, </a:t>
            </a:r>
            <a:r>
              <a:rPr lang="ko-KR" altLang="en-US" sz="1100"/>
              <a:t>회원정보 데이터</a:t>
            </a:r>
            <a:r>
              <a:rPr lang="en-US" altLang="ko-KR" sz="1100"/>
              <a:t>, </a:t>
            </a:r>
            <a:r>
              <a:rPr lang="ko-KR" altLang="en-US" sz="1100"/>
              <a:t>결제 및 보안 시스템 </a:t>
            </a:r>
            <a:endParaRPr lang="en-US" altLang="ko-KR" sz="1100"/>
          </a:p>
          <a:p>
            <a:r>
              <a:rPr lang="en-US" altLang="ko-KR" sz="1100"/>
              <a:t>3. </a:t>
            </a:r>
            <a:r>
              <a:rPr lang="ko-KR" altLang="en-US" sz="1100"/>
              <a:t>인적 자산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플랫폼관리자</a:t>
            </a:r>
            <a:r>
              <a:rPr lang="en-US" altLang="ko-KR" sz="1100"/>
              <a:t>/</a:t>
            </a:r>
            <a:r>
              <a:rPr lang="ko-KR" altLang="en-US" sz="1100"/>
              <a:t>개발전문인력</a:t>
            </a:r>
            <a:r>
              <a:rPr lang="en-US" altLang="ko-KR" sz="1100"/>
              <a:t>,</a:t>
            </a:r>
            <a:r>
              <a:rPr lang="ko-KR" altLang="en-US" sz="1100"/>
              <a:t> 글로벌 네트워크</a:t>
            </a:r>
            <a:endParaRPr lang="en-US" altLang="ko-KR" sz="110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C438012-07C4-F7D3-35CE-84D1F1F9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22" y="5396417"/>
            <a:ext cx="390355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1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100">
                <a:latin typeface="Arial" panose="020B0604020202020204" pitchFamily="34" charset="0"/>
              </a:rPr>
              <a:t>마케팅 비용 </a:t>
            </a:r>
            <a:r>
              <a:rPr lang="en-US" altLang="ko-KR" sz="1100">
                <a:latin typeface="Arial" panose="020B0604020202020204" pitchFamily="34" charset="0"/>
              </a:rPr>
              <a:t>(40~45%) : </a:t>
            </a:r>
            <a:r>
              <a:rPr lang="ko-KR" altLang="en-US" sz="1100">
                <a:latin typeface="Arial" panose="020B0604020202020204" pitchFamily="34" charset="0"/>
              </a:rPr>
              <a:t>호스트 숙소 및 서비스  홍보</a:t>
            </a:r>
            <a:endParaRPr kumimoji="0" lang="en-US" altLang="ko-K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서버 및 기술 개발 비용</a:t>
            </a:r>
            <a:r>
              <a:rPr kumimoji="0" lang="en-US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(18~22%)</a:t>
            </a:r>
            <a:r>
              <a:rPr lang="en-US" altLang="ko-KR" sz="1100">
                <a:latin typeface="Arial" panose="020B0604020202020204" pitchFamily="34" charset="0"/>
              </a:rPr>
              <a:t> – </a:t>
            </a:r>
            <a:r>
              <a:rPr lang="ko-KR" altLang="en-US" sz="1100">
                <a:latin typeface="Arial" panose="020B0604020202020204" pitchFamily="34" charset="0"/>
              </a:rPr>
              <a:t>앱 개발 </a:t>
            </a:r>
            <a:r>
              <a:rPr lang="en-US" altLang="ko-KR" sz="1100">
                <a:latin typeface="Arial" panose="020B0604020202020204" pitchFamily="34" charset="0"/>
              </a:rPr>
              <a:t>R&amp;D</a:t>
            </a:r>
            <a:endParaRPr kumimoji="0" lang="ko-KR" altLang="ko-K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고객 지원 운영비 </a:t>
            </a:r>
            <a:r>
              <a:rPr kumimoji="0" lang="en-US" altLang="ko-K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(10%~15%)</a:t>
            </a:r>
            <a:endParaRPr kumimoji="0" lang="ko-KR" altLang="ko-K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C4274-FFEE-526E-6B87-2826894CE02C}"/>
              </a:ext>
            </a:extLst>
          </p:cNvPr>
          <p:cNvSpPr txBox="1"/>
          <p:nvPr/>
        </p:nvSpPr>
        <p:spPr>
          <a:xfrm>
            <a:off x="5118461" y="5469411"/>
            <a:ext cx="413941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중개수수료 </a:t>
            </a:r>
            <a:r>
              <a:rPr lang="en-US" altLang="ko-KR" sz="1100"/>
              <a:t>(</a:t>
            </a:r>
            <a:r>
              <a:rPr lang="ko-KR" altLang="en-US" sz="1100"/>
              <a:t>게스트 </a:t>
            </a:r>
            <a:r>
              <a:rPr lang="en-US" altLang="ko-KR" sz="1100"/>
              <a:t>&amp; </a:t>
            </a:r>
            <a:r>
              <a:rPr lang="ko-KR" altLang="en-US" sz="1100"/>
              <a:t>호스트 양측</a:t>
            </a:r>
            <a:r>
              <a:rPr lang="en-US" altLang="ko-KR" sz="1100"/>
              <a:t>) : </a:t>
            </a:r>
            <a:r>
              <a:rPr lang="ko-KR" altLang="en-US" sz="1100"/>
              <a:t>수익의 </a:t>
            </a:r>
            <a:r>
              <a:rPr lang="en-US" altLang="ko-KR" sz="1100"/>
              <a:t>90% </a:t>
            </a:r>
            <a:r>
              <a:rPr lang="ko-KR" altLang="en-US" sz="1100"/>
              <a:t>이상 비중 </a:t>
            </a:r>
            <a:r>
              <a:rPr lang="en-US" altLang="ko-KR" sz="1100"/>
              <a:t>/ </a:t>
            </a:r>
            <a:r>
              <a:rPr lang="ko-KR" altLang="en-US" sz="1100"/>
              <a:t>전체 숙박 비용의 </a:t>
            </a:r>
            <a:r>
              <a:rPr lang="en-US" altLang="ko-KR" sz="1100"/>
              <a:t>15% </a:t>
            </a:r>
            <a:r>
              <a:rPr lang="ko-KR" altLang="en-US" sz="1100"/>
              <a:t>정도를 수수료로 받고 있음</a:t>
            </a:r>
            <a:r>
              <a:rPr lang="en-US" altLang="ko-KR" sz="1100"/>
              <a:t> </a:t>
            </a:r>
            <a:r>
              <a:rPr lang="ko-KR" alt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/>
              <a:t>체험</a:t>
            </a:r>
            <a:r>
              <a:rPr lang="en-US" altLang="ko-KR" sz="1100"/>
              <a:t> </a:t>
            </a:r>
            <a:r>
              <a:rPr lang="ko-KR" altLang="en-US" sz="1100"/>
              <a:t>수익</a:t>
            </a:r>
            <a:r>
              <a:rPr lang="en-US" altLang="ko-KR" sz="1100"/>
              <a:t>: 1~5% </a:t>
            </a:r>
            <a:r>
              <a:rPr lang="ko-KR" altLang="en-US" sz="1100"/>
              <a:t>비중</a:t>
            </a: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E1199B6C-B040-C4EB-6E55-14C83BC58E2B}"/>
              </a:ext>
            </a:extLst>
          </p:cNvPr>
          <p:cNvSpPr/>
          <p:nvPr/>
        </p:nvSpPr>
        <p:spPr>
          <a:xfrm>
            <a:off x="7590505" y="909905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43AF2DD4-4F66-FB8D-5A3F-0CCE7E82F05A}"/>
              </a:ext>
            </a:extLst>
          </p:cNvPr>
          <p:cNvSpPr/>
          <p:nvPr/>
        </p:nvSpPr>
        <p:spPr>
          <a:xfrm>
            <a:off x="3932578" y="927446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FB3B7650-39C8-BE5C-CF49-AB35F1DFCD89}"/>
              </a:ext>
            </a:extLst>
          </p:cNvPr>
          <p:cNvSpPr/>
          <p:nvPr/>
        </p:nvSpPr>
        <p:spPr>
          <a:xfrm>
            <a:off x="5722048" y="2903674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623D475-F848-8159-A1D8-02C56B070AC3}"/>
              </a:ext>
            </a:extLst>
          </p:cNvPr>
          <p:cNvSpPr/>
          <p:nvPr/>
        </p:nvSpPr>
        <p:spPr>
          <a:xfrm>
            <a:off x="5779074" y="925513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A8CFD926-7BD4-B624-C19C-65FAC46CBAFF}"/>
              </a:ext>
            </a:extLst>
          </p:cNvPr>
          <p:cNvSpPr/>
          <p:nvPr/>
        </p:nvSpPr>
        <p:spPr>
          <a:xfrm>
            <a:off x="4847747" y="4788131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5D4BC6E0-5538-142A-0308-EDB82B3ACFAA}"/>
              </a:ext>
            </a:extLst>
          </p:cNvPr>
          <p:cNvSpPr/>
          <p:nvPr/>
        </p:nvSpPr>
        <p:spPr>
          <a:xfrm>
            <a:off x="2071772" y="2869651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6</a:t>
            </a:r>
            <a:endParaRPr lang="ko-KR" altLang="en-US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A6CF0162-D455-61CD-12CB-E54989139926}"/>
              </a:ext>
            </a:extLst>
          </p:cNvPr>
          <p:cNvSpPr/>
          <p:nvPr/>
        </p:nvSpPr>
        <p:spPr>
          <a:xfrm>
            <a:off x="2091436" y="955012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7</a:t>
            </a:r>
            <a:endParaRPr lang="ko-KR" altLang="en-US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26EDEC96-4781-80E9-C132-9766CF9DA1AE}"/>
              </a:ext>
            </a:extLst>
          </p:cNvPr>
          <p:cNvSpPr/>
          <p:nvPr/>
        </p:nvSpPr>
        <p:spPr>
          <a:xfrm>
            <a:off x="280005" y="955012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8</a:t>
            </a:r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775A80C3-8B21-F979-E0DA-72EE3C08E020}"/>
              </a:ext>
            </a:extLst>
          </p:cNvPr>
          <p:cNvSpPr/>
          <p:nvPr/>
        </p:nvSpPr>
        <p:spPr>
          <a:xfrm>
            <a:off x="280005" y="4787400"/>
            <a:ext cx="270714" cy="2652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35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92FF-CD29-2B4E-C789-FAC7B2B3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1683F-BAC5-D931-2DF4-87CDE6AD3504}"/>
              </a:ext>
            </a:extLst>
          </p:cNvPr>
          <p:cNvSpPr txBox="1"/>
          <p:nvPr/>
        </p:nvSpPr>
        <p:spPr>
          <a:xfrm>
            <a:off x="8416413" y="570271"/>
            <a:ext cx="14895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삼삼오오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9A999-1E37-2392-85B1-46A3FB2A6302}"/>
              </a:ext>
            </a:extLst>
          </p:cNvPr>
          <p:cNvSpPr txBox="1"/>
          <p:nvPr/>
        </p:nvSpPr>
        <p:spPr>
          <a:xfrm>
            <a:off x="4024589" y="247351"/>
            <a:ext cx="171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err="1">
                <a:solidFill>
                  <a:schemeClr val="bg1"/>
                </a:solidFill>
              </a:rPr>
              <a:t>유니클로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361B1-85F9-4077-DC29-641EC86EAC4C}"/>
              </a:ext>
            </a:extLst>
          </p:cNvPr>
          <p:cNvSpPr txBox="1"/>
          <p:nvPr/>
        </p:nvSpPr>
        <p:spPr>
          <a:xfrm>
            <a:off x="4163990" y="1732000"/>
            <a:ext cx="1603519" cy="29392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 b="1">
                <a:latin typeface="맑은 고딕"/>
                <a:ea typeface="맑은 고딕"/>
              </a:rPr>
              <a:t>1. </a:t>
            </a:r>
            <a:r>
              <a:rPr lang="ko-KR" altLang="en-US" sz="800" b="1">
                <a:latin typeface="맑은 고딕"/>
                <a:ea typeface="맑은 고딕"/>
              </a:rPr>
              <a:t>효율적</a:t>
            </a:r>
            <a:r>
              <a:rPr lang="en-US" altLang="ko-KR" sz="800" b="1">
                <a:latin typeface="맑은 고딕"/>
                <a:ea typeface="맑은 고딕"/>
              </a:rPr>
              <a:t> </a:t>
            </a:r>
            <a:r>
              <a:rPr lang="ko-KR" altLang="en-US" sz="800" b="1">
                <a:latin typeface="맑은 고딕"/>
                <a:ea typeface="맑은 고딕"/>
              </a:rPr>
              <a:t>실용주의자</a:t>
            </a:r>
            <a:r>
              <a:rPr lang="en-US" altLang="ko-KR" sz="800" b="1">
                <a:latin typeface="맑은 고딕"/>
                <a:ea typeface="맑은 고딕"/>
              </a:rPr>
              <a:t>VP</a:t>
            </a:r>
          </a:p>
          <a:p>
            <a:r>
              <a:rPr lang="en-US" altLang="ko-KR" sz="800" b="1">
                <a:latin typeface="맑은 고딕"/>
                <a:ea typeface="맑은 고딕"/>
              </a:rPr>
              <a:t> </a:t>
            </a:r>
            <a:r>
              <a:rPr lang="en-US" altLang="ko-KR" sz="800">
                <a:latin typeface="맑은 고딕"/>
                <a:ea typeface="맑은 고딕"/>
              </a:rPr>
              <a:t>-</a:t>
            </a:r>
            <a:r>
              <a:rPr lang="ko-KR" altLang="en-US" sz="800">
                <a:latin typeface="맑은 고딕"/>
                <a:ea typeface="맑은 고딕"/>
              </a:rPr>
              <a:t> 편리성</a:t>
            </a:r>
            <a:r>
              <a:rPr lang="en-US" altLang="ko-KR" sz="800">
                <a:latin typeface="맑은 고딕"/>
                <a:ea typeface="맑은 고딕"/>
              </a:rPr>
              <a:t>/</a:t>
            </a:r>
            <a:r>
              <a:rPr lang="ko-KR" altLang="en-US" sz="800">
                <a:latin typeface="맑은 고딕"/>
                <a:ea typeface="맑은 고딕"/>
              </a:rPr>
              <a:t>유용성</a:t>
            </a:r>
            <a:endParaRPr lang="en-US" altLang="ko-KR" sz="800">
              <a:latin typeface="맑은 고딕"/>
              <a:ea typeface="맑은 고딕"/>
            </a:endParaRPr>
          </a:p>
          <a:p>
            <a:r>
              <a:rPr lang="en-US" altLang="ko-KR" sz="800" dirty="0">
                <a:latin typeface="+mj-ea"/>
                <a:ea typeface="+mj-ea"/>
              </a:rPr>
              <a:t> - </a:t>
            </a:r>
            <a:r>
              <a:rPr lang="ko-KR" altLang="en-US" sz="800" dirty="0">
                <a:latin typeface="+mj-ea"/>
                <a:ea typeface="+mj-ea"/>
              </a:rPr>
              <a:t>결정 피로도 낮춤</a:t>
            </a:r>
            <a:endParaRPr lang="en-US" altLang="ko-KR" sz="800" dirty="0">
              <a:latin typeface="+mj-ea"/>
              <a:ea typeface="+mj-ea"/>
            </a:endParaRPr>
          </a:p>
          <a:p>
            <a:endParaRPr lang="en-US" altLang="ko-KR" sz="800" b="1" dirty="0">
              <a:latin typeface="+mj-ea"/>
              <a:ea typeface="+mj-ea"/>
            </a:endParaRPr>
          </a:p>
          <a:p>
            <a:r>
              <a:rPr lang="en-US" altLang="ko-KR" sz="800" b="1" dirty="0">
                <a:latin typeface="+mj-ea"/>
                <a:ea typeface="+mj-ea"/>
              </a:rPr>
              <a:t>2.</a:t>
            </a:r>
            <a:r>
              <a:rPr lang="ko-KR" altLang="en-US" sz="800" b="1" dirty="0">
                <a:latin typeface="+mj-ea"/>
                <a:ea typeface="+mj-ea"/>
              </a:rPr>
              <a:t> 비즈니스 캐주얼 </a:t>
            </a:r>
            <a:r>
              <a:rPr lang="en-US" altLang="ko-KR" sz="800" b="1" dirty="0">
                <a:latin typeface="+mj-ea"/>
                <a:ea typeface="+mj-ea"/>
              </a:rPr>
              <a:t>VP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디자인</a:t>
            </a:r>
            <a:endParaRPr lang="en-US" altLang="ko-KR" sz="800" dirty="0"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접근성</a:t>
            </a:r>
            <a:endParaRPr lang="en-US" altLang="ko-KR" sz="800" dirty="0"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출근</a:t>
            </a:r>
            <a:r>
              <a:rPr lang="en-US" altLang="ko-KR" sz="800" dirty="0">
                <a:latin typeface="+mj-ea"/>
                <a:ea typeface="+mj-ea"/>
              </a:rPr>
              <a:t>/</a:t>
            </a:r>
            <a:r>
              <a:rPr lang="ko-KR" altLang="en-US" sz="800" dirty="0">
                <a:latin typeface="+mj-ea"/>
                <a:ea typeface="+mj-ea"/>
              </a:rPr>
              <a:t>일상 모두 커버하는 범용성</a:t>
            </a:r>
            <a:endParaRPr lang="en-US" altLang="ko-KR" sz="800" dirty="0">
              <a:latin typeface="+mj-ea"/>
              <a:ea typeface="+mj-ea"/>
            </a:endParaRPr>
          </a:p>
          <a:p>
            <a:endParaRPr lang="en-US" altLang="ko-KR" sz="800" b="1" dirty="0">
              <a:latin typeface="+mj-ea"/>
              <a:ea typeface="+mj-ea"/>
            </a:endParaRPr>
          </a:p>
          <a:p>
            <a:r>
              <a:rPr lang="en-US" altLang="ko-KR" sz="800" b="1" dirty="0">
                <a:latin typeface="+mj-ea"/>
                <a:ea typeface="+mj-ea"/>
              </a:rPr>
              <a:t>3.</a:t>
            </a:r>
            <a:r>
              <a:rPr lang="ko-KR" altLang="en-US" sz="800" b="1" dirty="0">
                <a:latin typeface="+mj-ea"/>
                <a:ea typeface="+mj-ea"/>
              </a:rPr>
              <a:t> 합리적 가치 </a:t>
            </a:r>
            <a:r>
              <a:rPr lang="en-US" altLang="ko-KR" sz="800" b="1" dirty="0">
                <a:latin typeface="+mj-ea"/>
                <a:ea typeface="+mj-ea"/>
              </a:rPr>
              <a:t>VP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가격 경쟁력</a:t>
            </a:r>
            <a:endParaRPr lang="en-US" altLang="ko-KR" sz="800" dirty="0"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합리적 가격</a:t>
            </a:r>
            <a:endParaRPr lang="en-US" altLang="ko-KR" sz="800" dirty="0">
              <a:latin typeface="+mj-ea"/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latin typeface="+mj-ea"/>
                <a:ea typeface="+mj-ea"/>
              </a:rPr>
              <a:t>가격대비 높은 품질</a:t>
            </a:r>
            <a:endParaRPr lang="en-US" altLang="ko-KR" sz="800" dirty="0">
              <a:latin typeface="+mj-ea"/>
              <a:ea typeface="+mj-ea"/>
            </a:endParaRPr>
          </a:p>
          <a:p>
            <a:endParaRPr lang="en-US" altLang="ko-KR" sz="800" b="1" dirty="0">
              <a:latin typeface="+mj-ea"/>
              <a:ea typeface="+mj-ea"/>
            </a:endParaRPr>
          </a:p>
          <a:p>
            <a:r>
              <a:rPr lang="en-US" altLang="ko-KR" sz="800" b="1" dirty="0">
                <a:latin typeface="+mj-ea"/>
                <a:ea typeface="+mj-ea"/>
              </a:rPr>
              <a:t>4.</a:t>
            </a:r>
            <a:r>
              <a:rPr lang="ko-KR" altLang="en-US" sz="800" b="1" dirty="0">
                <a:latin typeface="+mj-ea"/>
                <a:ea typeface="+mj-ea"/>
              </a:rPr>
              <a:t> 기술 중심 기능성 </a:t>
            </a:r>
            <a:r>
              <a:rPr lang="en-US" altLang="ko-KR" sz="800" b="1" dirty="0">
                <a:latin typeface="+mj-ea"/>
                <a:ea typeface="+mj-ea"/>
              </a:rPr>
              <a:t>VP</a:t>
            </a:r>
          </a:p>
          <a:p>
            <a:r>
              <a:rPr lang="en-US" altLang="ko-KR" sz="800" b="1">
                <a:latin typeface="맑은 고딕"/>
                <a:ea typeface="맑은 고딕"/>
              </a:rPr>
              <a:t> - </a:t>
            </a:r>
            <a:r>
              <a:rPr lang="ko-KR" altLang="en-US" sz="800" err="1">
                <a:latin typeface="맑은 고딕"/>
                <a:ea typeface="맑은 고딕"/>
              </a:rPr>
              <a:t>혁신성</a:t>
            </a:r>
            <a:r>
              <a:rPr lang="ko-KR" altLang="en-US" sz="800">
                <a:latin typeface="맑은 고딕"/>
                <a:ea typeface="맑은 고딕"/>
              </a:rPr>
              <a:t> </a:t>
            </a:r>
            <a:endParaRPr lang="en-US" altLang="ko-KR" sz="800">
              <a:latin typeface="맑은 고딕"/>
              <a:ea typeface="맑은 고딕"/>
            </a:endParaRPr>
          </a:p>
          <a:p>
            <a:r>
              <a:rPr lang="en-US" altLang="ko-KR" sz="800" dirty="0">
                <a:latin typeface="+mj-ea"/>
                <a:ea typeface="+mj-ea"/>
              </a:rPr>
              <a:t> - </a:t>
            </a:r>
            <a:r>
              <a:rPr lang="ko-KR" altLang="en-US" sz="800" dirty="0">
                <a:latin typeface="+mj-ea"/>
                <a:ea typeface="+mj-ea"/>
              </a:rPr>
              <a:t>성능</a:t>
            </a:r>
            <a:endParaRPr lang="en-US" altLang="ko-KR" sz="800" dirty="0">
              <a:latin typeface="+mj-ea"/>
              <a:ea typeface="+mj-ea"/>
            </a:endParaRPr>
          </a:p>
          <a:p>
            <a:r>
              <a:rPr lang="en-US" altLang="ko-KR" sz="800">
                <a:latin typeface="맑은 고딕"/>
                <a:ea typeface="맑은 고딕"/>
              </a:rPr>
              <a:t> - ex) </a:t>
            </a:r>
            <a:r>
              <a:rPr lang="ko-KR" altLang="en-US" sz="800" err="1">
                <a:latin typeface="맑은 고딕"/>
                <a:ea typeface="맑은 고딕"/>
              </a:rPr>
              <a:t>히트텍</a:t>
            </a:r>
            <a:r>
              <a:rPr lang="en-US" altLang="ko-KR" sz="800">
                <a:latin typeface="맑은 고딕"/>
                <a:ea typeface="맑은 고딕"/>
              </a:rPr>
              <a:t>, </a:t>
            </a:r>
            <a:r>
              <a:rPr lang="ko-KR" altLang="en-US" sz="800" err="1">
                <a:latin typeface="맑은 고딕"/>
                <a:ea typeface="맑은 고딕"/>
              </a:rPr>
              <a:t>에어리즘</a:t>
            </a:r>
            <a:endParaRPr lang="ko-KR" altLang="en-US" sz="800">
              <a:latin typeface="맑은 고딕"/>
              <a:ea typeface="맑은 고딕"/>
            </a:endParaRPr>
          </a:p>
          <a:p>
            <a:endParaRPr lang="ko-KR" altLang="en-US" sz="800">
              <a:latin typeface="맑은 고딕"/>
              <a:ea typeface="맑은 고딕"/>
            </a:endParaRPr>
          </a:p>
          <a:p>
            <a:r>
              <a:rPr lang="ko-KR" altLang="en-US" sz="900">
                <a:latin typeface="맑은 고딕"/>
                <a:ea typeface="맑은 고딕"/>
              </a:rPr>
              <a:t>5.</a:t>
            </a:r>
            <a:r>
              <a:rPr lang="ko-KR" sz="800" b="1">
                <a:latin typeface="Aptos"/>
                <a:ea typeface="맑은 고딕"/>
              </a:rPr>
              <a:t>콜라보 </a:t>
            </a:r>
            <a:r>
              <a:rPr lang="en-US" altLang="ko-KR" sz="800" b="1">
                <a:latin typeface="Aptos"/>
                <a:ea typeface="맑은 고딕"/>
              </a:rPr>
              <a:t>VP</a:t>
            </a:r>
            <a:endParaRPr lang="ko-KR" altLang="en-US" sz="800" b="1">
              <a:latin typeface="Aptos"/>
              <a:ea typeface="맑은 고딕"/>
            </a:endParaRPr>
          </a:p>
          <a:p>
            <a:r>
              <a:rPr lang="en-US" altLang="ko-KR" sz="800">
                <a:latin typeface="Aptos"/>
                <a:ea typeface="맑은 고딕"/>
              </a:rPr>
              <a:t>– </a:t>
            </a:r>
            <a:r>
              <a:rPr lang="ko-KR" sz="800">
                <a:latin typeface="Aptos"/>
                <a:ea typeface="맑은 고딕"/>
              </a:rPr>
              <a:t>하이엔드 브랜드와 콜라보를 통해 고객 체험 다양화</a:t>
            </a:r>
            <a:endParaRPr lang="ko-KR" sz="80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4CAAE-C39C-FC58-E8B3-D0FD64AFB940}"/>
              </a:ext>
            </a:extLst>
          </p:cNvPr>
          <p:cNvSpPr txBox="1"/>
          <p:nvPr/>
        </p:nvSpPr>
        <p:spPr>
          <a:xfrm>
            <a:off x="7760838" y="1422921"/>
            <a:ext cx="17892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1. </a:t>
            </a:r>
            <a:r>
              <a:rPr lang="ko-KR" altLang="en-US" sz="900" b="1" dirty="0"/>
              <a:t>효율적 실용주의자</a:t>
            </a:r>
            <a:endParaRPr lang="en-US" altLang="ko-KR" sz="900" b="1" dirty="0"/>
          </a:p>
          <a:p>
            <a:r>
              <a:rPr lang="ko-KR" altLang="en-US" sz="900" dirty="0"/>
              <a:t>복잡한 유행보다 </a:t>
            </a:r>
            <a:r>
              <a:rPr lang="ko-KR" altLang="en-US" sz="900" dirty="0" err="1"/>
              <a:t>실패없는</a:t>
            </a:r>
            <a:r>
              <a:rPr lang="ko-KR" altLang="en-US" sz="900" dirty="0"/>
              <a:t> </a:t>
            </a:r>
            <a:r>
              <a:rPr lang="ko-KR" altLang="en-US" sz="900" dirty="0" err="1"/>
              <a:t>기본템</a:t>
            </a:r>
            <a:r>
              <a:rPr lang="ko-KR" altLang="en-US" sz="900" dirty="0"/>
              <a:t> 선호하는 소비자 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b="1" dirty="0"/>
              <a:t>2. </a:t>
            </a:r>
            <a:r>
              <a:rPr lang="ko-KR" altLang="en-US" sz="900" b="1" dirty="0"/>
              <a:t>비즈니스 캐주얼 수요층 </a:t>
            </a:r>
            <a:endParaRPr lang="en-US" altLang="ko-KR" sz="900" b="1" dirty="0"/>
          </a:p>
          <a:p>
            <a:r>
              <a:rPr lang="ko-KR" altLang="en-US" sz="900" dirty="0"/>
              <a:t>격식과 편안함 사이의 균형을 추구하는 소비자  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b="1" dirty="0"/>
              <a:t>3. </a:t>
            </a:r>
            <a:r>
              <a:rPr lang="ko-KR" altLang="en-US" sz="900" b="1" dirty="0"/>
              <a:t>합리적 가치 소비층 </a:t>
            </a:r>
            <a:endParaRPr lang="en-US" altLang="ko-KR" sz="900" b="1" dirty="0"/>
          </a:p>
          <a:p>
            <a:r>
              <a:rPr lang="ko-KR" altLang="en-US" sz="900" dirty="0"/>
              <a:t>가격 대비 소재의 질을 따지는 소비자 </a:t>
            </a:r>
          </a:p>
          <a:p>
            <a:endParaRPr lang="en-US" altLang="ko-KR" sz="900" dirty="0"/>
          </a:p>
          <a:p>
            <a:r>
              <a:rPr lang="en-US" altLang="ko-KR" sz="900" b="1" dirty="0"/>
              <a:t>4. </a:t>
            </a:r>
            <a:r>
              <a:rPr lang="ko-KR" altLang="en-US" sz="900" b="1" dirty="0"/>
              <a:t>솔루션 중심 기능성 소비자 </a:t>
            </a:r>
            <a:endParaRPr lang="en-US" altLang="ko-KR" sz="900" b="1" dirty="0"/>
          </a:p>
          <a:p>
            <a:r>
              <a:rPr lang="ko-KR" altLang="en-US" sz="900" dirty="0"/>
              <a:t>의류를 통해 생활의 불편함을 해결하고자 하는 소비자 </a:t>
            </a:r>
          </a:p>
          <a:p>
            <a:endParaRPr lang="en-US" altLang="ko-KR" sz="900" dirty="0"/>
          </a:p>
          <a:p>
            <a:r>
              <a:rPr lang="en-US" altLang="ko-KR" sz="900" b="1" dirty="0"/>
              <a:t>5. </a:t>
            </a:r>
            <a:r>
              <a:rPr lang="ko-KR" altLang="en-US" sz="900" b="1" dirty="0" err="1"/>
              <a:t>올인원</a:t>
            </a:r>
            <a:r>
              <a:rPr lang="ko-KR" altLang="en-US" sz="900" b="1" dirty="0"/>
              <a:t> 패밀리 </a:t>
            </a:r>
            <a:endParaRPr lang="en-US" altLang="ko-KR" sz="900" b="1" dirty="0"/>
          </a:p>
          <a:p>
            <a:r>
              <a:rPr lang="ko-KR" altLang="en-US" sz="900" dirty="0"/>
              <a:t>자녀의 옷과 본인의 옷을 한 곳에서 해결하려는 부모 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b="1" dirty="0"/>
              <a:t>6. </a:t>
            </a:r>
            <a:r>
              <a:rPr lang="ko-KR" altLang="en-US" sz="900" b="1" dirty="0"/>
              <a:t>콜라보레이션 </a:t>
            </a:r>
          </a:p>
          <a:p>
            <a:r>
              <a:rPr lang="ko-KR" altLang="en-US" sz="900" dirty="0"/>
              <a:t>유명 캐릭터</a:t>
            </a:r>
            <a:r>
              <a:rPr lang="en-US" altLang="ko-KR" sz="900" dirty="0"/>
              <a:t>, </a:t>
            </a:r>
            <a:r>
              <a:rPr lang="ko-KR" altLang="en-US" sz="900" dirty="0"/>
              <a:t>디자이너 협업 제품을 저렴하게 즐기고 싶은 소비자 </a:t>
            </a:r>
            <a:endParaRPr lang="en-US" altLang="ko-KR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627EC-28AD-3D81-0AE7-59937829C846}"/>
              </a:ext>
            </a:extLst>
          </p:cNvPr>
          <p:cNvSpPr txBox="1"/>
          <p:nvPr/>
        </p:nvSpPr>
        <p:spPr>
          <a:xfrm>
            <a:off x="413002" y="1524000"/>
            <a:ext cx="1724251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 dirty="0">
                <a:ea typeface="맑은 고딕"/>
              </a:rPr>
              <a:t>• </a:t>
            </a:r>
            <a:r>
              <a:rPr lang="ko-KR" altLang="en-US" sz="800" b="1" dirty="0">
                <a:ea typeface="맑은 고딕"/>
              </a:rPr>
              <a:t>생산</a:t>
            </a:r>
            <a:r>
              <a:rPr lang="en-US" altLang="ko-KR" sz="800" b="1" dirty="0">
                <a:ea typeface="맑은 고딕"/>
              </a:rPr>
              <a:t> </a:t>
            </a:r>
            <a:r>
              <a:rPr lang="ko-KR" altLang="en-US" sz="800" b="1" dirty="0">
                <a:ea typeface="맑은 고딕"/>
              </a:rPr>
              <a:t>파트너</a:t>
            </a:r>
            <a:r>
              <a:rPr lang="en-US" sz="800" b="1" dirty="0"/>
              <a:t> (</a:t>
            </a:r>
            <a:r>
              <a:rPr lang="en-US" sz="800" b="1" dirty="0" err="1"/>
              <a:t>oem</a:t>
            </a:r>
            <a:r>
              <a:rPr lang="en-US" sz="800" b="1" dirty="0"/>
              <a:t>/</a:t>
            </a:r>
            <a:r>
              <a:rPr lang="ko-KR" altLang="en-US" sz="800" b="1" dirty="0">
                <a:ea typeface="맑은 고딕"/>
              </a:rPr>
              <a:t>제조</a:t>
            </a:r>
            <a:r>
              <a:rPr lang="en-US" altLang="ko-KR" sz="800" b="1" dirty="0">
                <a:ea typeface="맑은 고딕"/>
              </a:rPr>
              <a:t>)</a:t>
            </a:r>
            <a:endParaRPr lang="ko-KR" altLang="en-US" sz="800" b="1" dirty="0">
              <a:ea typeface="맑은 고딕"/>
            </a:endParaRPr>
          </a:p>
          <a:p>
            <a:r>
              <a:rPr lang="en-US" altLang="ko-KR" sz="800" dirty="0">
                <a:ea typeface="맑은 고딕"/>
              </a:rPr>
              <a:t>- Toray Industries</a:t>
            </a:r>
          </a:p>
          <a:p>
            <a:r>
              <a:rPr lang="en-US" altLang="ko-KR" sz="800" dirty="0">
                <a:ea typeface="맑은 고딕"/>
              </a:rPr>
              <a:t>- </a:t>
            </a:r>
            <a:r>
              <a:rPr lang="ko-KR" altLang="en-US" sz="800" dirty="0">
                <a:ea typeface="맑은 고딕"/>
              </a:rPr>
              <a:t>중국</a:t>
            </a:r>
            <a:r>
              <a:rPr lang="en-US" altLang="ko-KR" sz="800" dirty="0">
                <a:ea typeface="맑은 고딕"/>
              </a:rPr>
              <a:t>/</a:t>
            </a:r>
            <a:r>
              <a:rPr lang="ko-KR" altLang="en-US" sz="800" dirty="0">
                <a:ea typeface="맑은 고딕"/>
              </a:rPr>
              <a:t>동남아 </a:t>
            </a:r>
            <a:r>
              <a:rPr lang="en-US" altLang="ko-KR" sz="800" dirty="0">
                <a:ea typeface="맑은 고딕"/>
              </a:rPr>
              <a:t>OEM </a:t>
            </a:r>
            <a:r>
              <a:rPr lang="ko-KR" altLang="en-US" sz="800" dirty="0">
                <a:ea typeface="맑은 고딕"/>
              </a:rPr>
              <a:t>제조사</a:t>
            </a:r>
            <a:endParaRPr lang="en-US" altLang="ko-KR" sz="800" dirty="0">
              <a:ea typeface="맑은 고딕"/>
            </a:endParaRPr>
          </a:p>
          <a:p>
            <a:endParaRPr lang="ko-KR" altLang="en-US" sz="800" dirty="0">
              <a:ea typeface="맑은 고딕"/>
            </a:endParaRPr>
          </a:p>
          <a:p>
            <a:r>
              <a:rPr lang="en-US" altLang="ko-KR" sz="800" b="1" dirty="0">
                <a:ea typeface="맑은 고딕"/>
              </a:rPr>
              <a:t>• </a:t>
            </a:r>
            <a:r>
              <a:rPr lang="ko-KR" altLang="en-US" sz="800" b="1" dirty="0">
                <a:ea typeface="맑은 고딕"/>
              </a:rPr>
              <a:t>물류/공급망 파트너</a:t>
            </a:r>
            <a:endParaRPr lang="en-US" altLang="ko-KR" sz="800" b="1" dirty="0">
              <a:ea typeface="맑은 고딕"/>
            </a:endParaRPr>
          </a:p>
          <a:p>
            <a:r>
              <a:rPr lang="en-US" altLang="ko-KR" sz="800" dirty="0">
                <a:ea typeface="맑은 고딕"/>
              </a:rPr>
              <a:t>- </a:t>
            </a:r>
            <a:r>
              <a:rPr lang="en-US" altLang="ko-KR" sz="800" dirty="0"/>
              <a:t>Fast Retailing </a:t>
            </a:r>
            <a:r>
              <a:rPr lang="ko-KR" altLang="en-US" sz="800" dirty="0"/>
              <a:t>내부 글로벌 </a:t>
            </a:r>
            <a:r>
              <a:rPr lang="ko-KR" altLang="en-US" sz="800" dirty="0" err="1"/>
              <a:t>물류망</a:t>
            </a:r>
            <a:endParaRPr lang="ko-KR" altLang="en-US" sz="800" dirty="0">
              <a:ea typeface="맑은 고딕"/>
            </a:endParaRPr>
          </a:p>
          <a:p>
            <a:r>
              <a:rPr lang="ko-KR" altLang="en-US" sz="800" dirty="0">
                <a:ea typeface="맑은 고딕"/>
              </a:rPr>
              <a:t>- </a:t>
            </a:r>
            <a:r>
              <a:rPr lang="en-US" altLang="ko-KR" sz="800" dirty="0">
                <a:ea typeface="맑은 고딕"/>
              </a:rPr>
              <a:t>SPA</a:t>
            </a:r>
            <a:r>
              <a:rPr lang="ko-KR" altLang="en-US" sz="800" dirty="0">
                <a:ea typeface="맑은 고딕"/>
              </a:rPr>
              <a:t>구조, 빠른 회전율 필수</a:t>
            </a:r>
          </a:p>
          <a:p>
            <a:r>
              <a:rPr lang="ko-KR" altLang="en-US" sz="800" dirty="0">
                <a:ea typeface="맑은 고딕"/>
              </a:rPr>
              <a:t>- 물류 무너지면 바로 매출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감소</a:t>
            </a:r>
          </a:p>
          <a:p>
            <a:endParaRPr lang="ko-KR" altLang="en-US" sz="800" dirty="0">
              <a:ea typeface="맑은 고딕"/>
            </a:endParaRPr>
          </a:p>
          <a:p>
            <a:r>
              <a:rPr lang="en-US" altLang="ko-KR" sz="800" b="1" dirty="0">
                <a:ea typeface="맑은 고딕"/>
              </a:rPr>
              <a:t>• </a:t>
            </a:r>
            <a:r>
              <a:rPr lang="ko-KR" altLang="en-US" sz="800" b="1" dirty="0">
                <a:ea typeface="맑은 고딕"/>
              </a:rPr>
              <a:t>유통 채널 파트너</a:t>
            </a:r>
            <a:endParaRPr lang="en-US" altLang="ko-KR" sz="800" b="1" dirty="0">
              <a:ea typeface="맑은 고딕"/>
            </a:endParaRPr>
          </a:p>
          <a:p>
            <a:r>
              <a:rPr lang="en-US" altLang="ko-KR" sz="800" dirty="0">
                <a:ea typeface="맑은 고딕"/>
              </a:rPr>
              <a:t>-</a:t>
            </a:r>
            <a:r>
              <a:rPr lang="ko-KR" altLang="en-US" sz="800" dirty="0">
                <a:ea typeface="맑은 고딕"/>
              </a:rPr>
              <a:t> </a:t>
            </a:r>
            <a:r>
              <a:rPr lang="ko-KR" altLang="en-US" sz="800" dirty="0"/>
              <a:t>자사 채널 </a:t>
            </a:r>
            <a:endParaRPr lang="en-US" altLang="ko-KR" sz="800" dirty="0">
              <a:ea typeface="맑은 고딕"/>
            </a:endParaRPr>
          </a:p>
          <a:p>
            <a:r>
              <a:rPr lang="en-US" altLang="ko-KR" sz="800" dirty="0">
                <a:ea typeface="맑은 고딕"/>
              </a:rPr>
              <a:t>- </a:t>
            </a:r>
            <a:r>
              <a:rPr lang="ko-KR" altLang="en-US" sz="800" dirty="0" err="1">
                <a:ea typeface="맑은 고딕"/>
              </a:rPr>
              <a:t>롯데글로벌지스</a:t>
            </a:r>
            <a:endParaRPr lang="ko-KR" altLang="en-US" sz="800" dirty="0">
              <a:ea typeface="맑은 고딕"/>
            </a:endParaRPr>
          </a:p>
          <a:p>
            <a:r>
              <a:rPr lang="ko-KR" altLang="en-US" sz="800" dirty="0">
                <a:ea typeface="맑은 고딕"/>
              </a:rPr>
              <a:t>- 쇼핑몰입점</a:t>
            </a:r>
          </a:p>
          <a:p>
            <a:r>
              <a:rPr lang="ko-KR" altLang="en-US" sz="800" dirty="0">
                <a:ea typeface="맑은 고딕"/>
              </a:rPr>
              <a:t>- 온라인플랫폼 협업</a:t>
            </a:r>
          </a:p>
          <a:p>
            <a:r>
              <a:rPr lang="ko-KR" altLang="en-US" sz="800" dirty="0">
                <a:ea typeface="맑은 고딕"/>
              </a:rPr>
              <a:t>- 직접판매 </a:t>
            </a:r>
            <a:r>
              <a:rPr lang="ko-KR" altLang="en-US" sz="800" dirty="0" err="1">
                <a:ea typeface="맑은 고딕"/>
              </a:rPr>
              <a:t>비중이높음</a:t>
            </a:r>
            <a:endParaRPr lang="ko-KR" altLang="en-US" sz="800" dirty="0">
              <a:ea typeface="맑은 고딕"/>
            </a:endParaRPr>
          </a:p>
          <a:p>
            <a:endParaRPr lang="ko-KR" altLang="en-US" sz="800" dirty="0">
              <a:ea typeface="맑은 고딕"/>
            </a:endParaRPr>
          </a:p>
          <a:p>
            <a:r>
              <a:rPr lang="en-US" altLang="ko-KR" sz="800" b="1" dirty="0">
                <a:ea typeface="맑은 고딕"/>
              </a:rPr>
              <a:t>• </a:t>
            </a:r>
            <a:r>
              <a:rPr lang="ko-KR" altLang="en-US" sz="800" b="1" dirty="0" err="1">
                <a:ea typeface="맑은 고딕"/>
              </a:rPr>
              <a:t>I</a:t>
            </a:r>
            <a:r>
              <a:rPr lang="en-US" altLang="ko-KR" sz="800" b="1" dirty="0">
                <a:ea typeface="맑은 고딕"/>
              </a:rPr>
              <a:t>T</a:t>
            </a:r>
            <a:r>
              <a:rPr lang="ko-KR" altLang="en-US" sz="800" b="1" dirty="0">
                <a:ea typeface="맑은 고딕"/>
              </a:rPr>
              <a:t>,</a:t>
            </a:r>
            <a:r>
              <a:rPr lang="ko-KR" altLang="en-US" sz="800" b="1" dirty="0" err="1">
                <a:ea typeface="맑은 고딕"/>
              </a:rPr>
              <a:t>데이터,시스템</a:t>
            </a:r>
            <a:r>
              <a:rPr lang="ko-KR" altLang="en-US" sz="800" b="1" dirty="0">
                <a:ea typeface="맑은 고딕"/>
              </a:rPr>
              <a:t> 파트너</a:t>
            </a:r>
            <a:endParaRPr lang="en-US" altLang="ko-KR" sz="800" b="1" dirty="0">
              <a:ea typeface="맑은 고딕"/>
            </a:endParaRPr>
          </a:p>
          <a:p>
            <a:r>
              <a:rPr lang="en-US" altLang="ko-KR" sz="800" dirty="0">
                <a:ea typeface="맑은 고딕"/>
              </a:rPr>
              <a:t>- Google Cloud</a:t>
            </a:r>
            <a:endParaRPr lang="ko-KR" altLang="en-US" sz="800" dirty="0">
              <a:ea typeface="맑은 고딕"/>
            </a:endParaRPr>
          </a:p>
          <a:p>
            <a:r>
              <a:rPr lang="ko-KR" altLang="en-US" sz="800" dirty="0">
                <a:ea typeface="맑은 고딕"/>
              </a:rPr>
              <a:t>- 재고관리시스템,</a:t>
            </a:r>
          </a:p>
          <a:p>
            <a:r>
              <a:rPr lang="ko-KR" altLang="en-US" sz="800" dirty="0">
                <a:ea typeface="맑은 고딕"/>
              </a:rPr>
              <a:t>- 수요예측</a:t>
            </a:r>
          </a:p>
          <a:p>
            <a:r>
              <a:rPr lang="ko-KR" altLang="en-US" sz="800" dirty="0">
                <a:ea typeface="맑은 고딕"/>
              </a:rPr>
              <a:t>- 데이터 분석(후 생산)</a:t>
            </a:r>
          </a:p>
          <a:p>
            <a:endParaRPr lang="ko-KR" altLang="en-US" sz="800" dirty="0">
              <a:ea typeface="맑은 고딕"/>
            </a:endParaRPr>
          </a:p>
          <a:p>
            <a:r>
              <a:rPr lang="en-US" altLang="ko-KR" sz="800" b="1" dirty="0">
                <a:ea typeface="맑은 고딕"/>
              </a:rPr>
              <a:t>• </a:t>
            </a:r>
            <a:r>
              <a:rPr lang="ko-KR" altLang="en-US" sz="800" b="1" dirty="0">
                <a:ea typeface="맑은 고딕"/>
              </a:rPr>
              <a:t>마케팅 파트너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ea typeface="맑은 고딕"/>
              </a:rPr>
              <a:t>디자이너 협업/ 브랜드콜라보</a:t>
            </a:r>
            <a:endParaRPr lang="en-US" altLang="ko-KR" sz="800" dirty="0">
              <a:ea typeface="맑은 고딕"/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ea typeface="맑은 고딕"/>
              </a:rPr>
              <a:t>플랫폼 기반 마케팅</a:t>
            </a:r>
            <a:r>
              <a:rPr lang="en-US" altLang="ko-KR" sz="800" dirty="0">
                <a:ea typeface="맑은 고딕"/>
              </a:rPr>
              <a:t>(Instagram, </a:t>
            </a:r>
            <a:r>
              <a:rPr lang="en-US" altLang="ko-KR" sz="800" dirty="0" err="1">
                <a:ea typeface="맑은 고딕"/>
              </a:rPr>
              <a:t>Youtube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등</a:t>
            </a:r>
            <a:r>
              <a:rPr lang="en-US" altLang="ko-KR" sz="800" dirty="0">
                <a:ea typeface="맑은 고딕"/>
              </a:rPr>
              <a:t>)</a:t>
            </a:r>
            <a:endParaRPr lang="ko-KR" altLang="en-US" sz="800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CA139-81A8-4145-7DC7-013FE191A46B}"/>
              </a:ext>
            </a:extLst>
          </p:cNvPr>
          <p:cNvSpPr txBox="1"/>
          <p:nvPr/>
        </p:nvSpPr>
        <p:spPr>
          <a:xfrm>
            <a:off x="5928177" y="1405391"/>
            <a:ext cx="17562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 1. </a:t>
            </a:r>
            <a:r>
              <a:rPr lang="ko-KR" altLang="en-US" sz="700" b="1" dirty="0"/>
              <a:t>셀프서비스</a:t>
            </a:r>
            <a:endParaRPr lang="en-US" altLang="ko-KR" sz="700" dirty="0"/>
          </a:p>
          <a:p>
            <a:r>
              <a:rPr lang="en-US" altLang="ko-KR" sz="700" dirty="0"/>
              <a:t>– </a:t>
            </a:r>
            <a:r>
              <a:rPr lang="ko-KR" altLang="en-US" sz="700" dirty="0"/>
              <a:t>직원 개입 최소화</a:t>
            </a:r>
            <a:endParaRPr lang="en-US" altLang="ko-KR" sz="700" dirty="0"/>
          </a:p>
          <a:p>
            <a:r>
              <a:rPr lang="ko-KR" altLang="en-US" sz="700" dirty="0"/>
              <a:t>매장 자유 쇼핑으로 고객 체험 기회 높임 </a:t>
            </a:r>
            <a:endParaRPr lang="en-US" altLang="ko-KR" sz="700" dirty="0"/>
          </a:p>
          <a:p>
            <a:endParaRPr lang="en-US" altLang="ko-KR" sz="700" dirty="0"/>
          </a:p>
          <a:p>
            <a:r>
              <a:rPr lang="en-US" altLang="ko-KR" sz="700" b="1" dirty="0"/>
              <a:t>2. </a:t>
            </a:r>
            <a:r>
              <a:rPr lang="ko-KR" altLang="en-US" sz="700" b="1" dirty="0" err="1"/>
              <a:t>콜라보</a:t>
            </a:r>
            <a:endParaRPr lang="en-US" altLang="ko-KR" sz="700" b="1" dirty="0"/>
          </a:p>
          <a:p>
            <a:r>
              <a:rPr lang="ko-KR" altLang="en-US" sz="700" dirty="0"/>
              <a:t> </a:t>
            </a:r>
            <a:r>
              <a:rPr lang="en-US" altLang="ko-KR" sz="700" dirty="0"/>
              <a:t>– </a:t>
            </a:r>
            <a:r>
              <a:rPr lang="ko-KR" altLang="en-US" sz="700" dirty="0"/>
              <a:t>하이엔드 브랜드와 콜라보를   통해 고객 체험 다양화</a:t>
            </a:r>
            <a:endParaRPr lang="en-US" altLang="ko-KR" sz="700" dirty="0"/>
          </a:p>
          <a:p>
            <a:pPr marL="171450" indent="-171450">
              <a:buFontTx/>
              <a:buChar char="-"/>
            </a:pPr>
            <a:r>
              <a:rPr lang="ko-KR" altLang="en-US" sz="700" dirty="0"/>
              <a:t>신규 고객 유입</a:t>
            </a:r>
            <a:endParaRPr lang="en-US" altLang="ko-KR" sz="700" dirty="0"/>
          </a:p>
          <a:p>
            <a:pPr marL="171450" indent="-171450">
              <a:buFontTx/>
              <a:buChar char="-"/>
            </a:pPr>
            <a:endParaRPr lang="en-US" altLang="ko-KR" sz="700" dirty="0"/>
          </a:p>
          <a:p>
            <a:r>
              <a:rPr lang="en-US" altLang="ko-KR" sz="700" b="1" dirty="0"/>
              <a:t>3. </a:t>
            </a:r>
            <a:r>
              <a:rPr lang="ko-KR" altLang="en-US" sz="700" b="1" dirty="0"/>
              <a:t>반복구매</a:t>
            </a:r>
            <a:endParaRPr lang="en-US" altLang="ko-KR" sz="700" b="1" dirty="0"/>
          </a:p>
          <a:p>
            <a:pPr marL="171450" indent="-171450">
              <a:buFontTx/>
              <a:buChar char="-"/>
            </a:pPr>
            <a:r>
              <a:rPr lang="ko-KR" altLang="en-US" sz="700" dirty="0"/>
              <a:t>기능성 제품 시즌마다 구매</a:t>
            </a:r>
            <a:endParaRPr lang="en-US" altLang="ko-KR" sz="700" dirty="0"/>
          </a:p>
          <a:p>
            <a:r>
              <a:rPr lang="en-US" altLang="ko-KR" sz="700" dirty="0"/>
              <a:t>          (</a:t>
            </a:r>
            <a:r>
              <a:rPr lang="ko-KR" altLang="en-US" sz="700" dirty="0" err="1"/>
              <a:t>에어리즘</a:t>
            </a:r>
            <a:r>
              <a:rPr lang="en-US" altLang="ko-KR" sz="700" dirty="0"/>
              <a:t>, </a:t>
            </a:r>
            <a:r>
              <a:rPr lang="ko-KR" altLang="en-US" sz="700" dirty="0" err="1"/>
              <a:t>히트텍</a:t>
            </a:r>
            <a:r>
              <a:rPr lang="ko-KR" altLang="en-US" sz="700" dirty="0"/>
              <a:t> 등</a:t>
            </a:r>
            <a:r>
              <a:rPr lang="en-US" altLang="ko-KR" sz="7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700" dirty="0"/>
              <a:t>기본 아이템 색상별 구매</a:t>
            </a:r>
            <a:endParaRPr lang="en-US" altLang="ko-KR" sz="700" dirty="0"/>
          </a:p>
          <a:p>
            <a:pPr marL="171450" indent="-171450">
              <a:buFontTx/>
              <a:buChar char="-"/>
            </a:pPr>
            <a:r>
              <a:rPr lang="ko-KR" altLang="en-US" sz="700" dirty="0"/>
              <a:t>기존 고객 유지</a:t>
            </a:r>
            <a:endParaRPr lang="en-US" altLang="ko-KR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B054A-CECC-9318-E5E3-0BBD570D9F2A}"/>
              </a:ext>
            </a:extLst>
          </p:cNvPr>
          <p:cNvSpPr txBox="1"/>
          <p:nvPr/>
        </p:nvSpPr>
        <p:spPr>
          <a:xfrm>
            <a:off x="5928178" y="3258403"/>
            <a:ext cx="1756279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 b="1" dirty="0"/>
              <a:t>• </a:t>
            </a:r>
            <a:r>
              <a:rPr lang="ko-KR" altLang="en-US" sz="800" b="1" dirty="0"/>
              <a:t>오프라인 </a:t>
            </a:r>
            <a:endParaRPr lang="en-US" altLang="ko-KR" sz="800" b="1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피팅을 통해 고객 체험 경험 </a:t>
            </a:r>
            <a:endParaRPr lang="en-US" altLang="ko-KR" sz="800" dirty="0"/>
          </a:p>
          <a:p>
            <a:r>
              <a:rPr lang="en-US" altLang="ko-KR" sz="800" dirty="0"/>
              <a:t>-  </a:t>
            </a:r>
            <a:r>
              <a:rPr lang="ko-KR" altLang="en-US" sz="800" dirty="0"/>
              <a:t>표준화된 매장 구조로 편안한 익숙함 제공 </a:t>
            </a:r>
            <a:endParaRPr lang="en-US" altLang="ko-KR" sz="800" dirty="0"/>
          </a:p>
          <a:p>
            <a:pPr marL="285750" indent="-285750">
              <a:buFont typeface="Arial"/>
              <a:buChar char="•"/>
            </a:pPr>
            <a:r>
              <a:rPr lang="ko-KR" altLang="en-US" sz="800">
                <a:ea typeface="맑은 고딕"/>
              </a:rPr>
              <a:t>-</a:t>
            </a:r>
            <a:r>
              <a:rPr lang="ko-KR" sz="800">
                <a:ea typeface="+mn-lt"/>
                <a:cs typeface="+mn-lt"/>
              </a:rPr>
              <a:t>O2O 전략 (온라인 주문 → 매장 픽업) </a:t>
            </a:r>
            <a:endParaRPr lang="ko-KR" altLang="en-US" sz="80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sz="800">
                <a:ea typeface="+mn-lt"/>
                <a:cs typeface="+mn-lt"/>
              </a:rPr>
              <a:t>글로벌 통합 매장 운영</a:t>
            </a:r>
            <a:r>
              <a:rPr lang="en-US" altLang="ko-KR" sz="800">
                <a:ea typeface="+mn-lt"/>
                <a:cs typeface="+mn-lt"/>
              </a:rPr>
              <a:t>/</a:t>
            </a:r>
            <a:r>
              <a:rPr lang="ko-KR" altLang="en-US" sz="800">
                <a:ea typeface="+mn-lt"/>
                <a:cs typeface="+mn-lt"/>
              </a:rPr>
              <a:t>접근성용이</a:t>
            </a:r>
            <a:endParaRPr lang="ko-KR" sz="800"/>
          </a:p>
          <a:p>
            <a:endParaRPr lang="en-US" altLang="ko-KR" sz="800">
              <a:ea typeface="맑은 고딕" panose="020B0503020000020004" pitchFamily="34" charset="-127"/>
            </a:endParaRPr>
          </a:p>
          <a:p>
            <a:r>
              <a:rPr lang="en-US" altLang="ko-KR" sz="800" b="1" dirty="0"/>
              <a:t>• </a:t>
            </a:r>
            <a:r>
              <a:rPr lang="ko-KR" altLang="en-US" sz="800" b="1" dirty="0"/>
              <a:t>온라인 </a:t>
            </a:r>
            <a:endParaRPr lang="en-US" altLang="ko-KR" sz="800" b="1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재고확인 </a:t>
            </a:r>
            <a:endParaRPr lang="en-US" altLang="ko-KR" sz="800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다양한 사이즈 구매</a:t>
            </a:r>
            <a:endParaRPr lang="en-US" altLang="ko-KR" sz="800" dirty="0"/>
          </a:p>
          <a:p>
            <a:r>
              <a:rPr lang="en-US" altLang="ko-KR" sz="800" dirty="0"/>
              <a:t>-</a:t>
            </a:r>
            <a:r>
              <a:rPr lang="ko-KR" altLang="en-US" sz="800" dirty="0"/>
              <a:t>쿠폰</a:t>
            </a:r>
            <a:r>
              <a:rPr lang="en-US" altLang="ko-KR" sz="800" dirty="0"/>
              <a:t>, </a:t>
            </a:r>
            <a:r>
              <a:rPr lang="ko-KR" altLang="en-US" sz="800" dirty="0"/>
              <a:t>할인 등 알림으로 구매 유도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59138-B16A-51FE-95AA-55D611D47898}"/>
              </a:ext>
            </a:extLst>
          </p:cNvPr>
          <p:cNvSpPr txBox="1"/>
          <p:nvPr/>
        </p:nvSpPr>
        <p:spPr>
          <a:xfrm>
            <a:off x="2323391" y="1976571"/>
            <a:ext cx="1603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R&amp;D </a:t>
            </a:r>
            <a:r>
              <a:rPr lang="ko-KR" altLang="en-US" sz="900" b="1"/>
              <a:t>및 소재 개발 </a:t>
            </a:r>
            <a:r>
              <a:rPr lang="en-US" altLang="ko-KR" sz="900" b="1"/>
              <a:t>(</a:t>
            </a:r>
            <a:r>
              <a:rPr lang="ko-KR" altLang="en-US" sz="900" b="1"/>
              <a:t>기술 혁신</a:t>
            </a:r>
            <a:r>
              <a:rPr lang="en-US" altLang="ko-KR" sz="900" b="1"/>
              <a:t>)</a:t>
            </a:r>
          </a:p>
          <a:p>
            <a:r>
              <a:rPr lang="en-US" altLang="ko-KR" sz="900"/>
              <a:t>-  </a:t>
            </a:r>
            <a:r>
              <a:rPr lang="ko-KR" altLang="en-US" sz="900"/>
              <a:t>지속적인 신소재 개발 및 개선</a:t>
            </a:r>
            <a:endParaRPr lang="en-US" altLang="ko-KR" sz="900"/>
          </a:p>
          <a:p>
            <a:r>
              <a:rPr lang="en-US" altLang="ko-KR" sz="900"/>
              <a:t>-  </a:t>
            </a:r>
            <a:r>
              <a:rPr lang="ko-KR" altLang="en-US" sz="900"/>
              <a:t>기능으로 타 제품과 차별화</a:t>
            </a:r>
            <a:endParaRPr lang="ko-KR" altLang="en-US" sz="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21D06-7884-5809-11B9-FBA2F13EA3BB}"/>
              </a:ext>
            </a:extLst>
          </p:cNvPr>
          <p:cNvSpPr txBox="1"/>
          <p:nvPr/>
        </p:nvSpPr>
        <p:spPr>
          <a:xfrm>
            <a:off x="2297922" y="3344629"/>
            <a:ext cx="1654459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/>
              <a:t>• </a:t>
            </a:r>
            <a:r>
              <a:rPr lang="ko-KR" altLang="en-US" sz="800" b="1"/>
              <a:t>독자적 소재 기술 </a:t>
            </a:r>
            <a:r>
              <a:rPr lang="en-US" altLang="ko-KR" sz="800" b="1"/>
              <a:t>(</a:t>
            </a:r>
            <a:r>
              <a:rPr lang="ko-KR" altLang="en-US" sz="800" b="1"/>
              <a:t>지적 자산</a:t>
            </a:r>
            <a:r>
              <a:rPr lang="en-US" altLang="ko-KR" sz="800" b="1"/>
              <a:t>)</a:t>
            </a:r>
          </a:p>
          <a:p>
            <a:r>
              <a:rPr lang="en-US" altLang="ko-KR" sz="800"/>
              <a:t>- </a:t>
            </a:r>
            <a:r>
              <a:rPr lang="ko-KR" altLang="en-US" sz="800"/>
              <a:t>기능성 라인업 고도화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 b="1"/>
              <a:t>• </a:t>
            </a:r>
            <a:r>
              <a:rPr lang="ko-KR" altLang="en-US" sz="800" b="1"/>
              <a:t>글로벌 직영 매장 네트워크</a:t>
            </a:r>
            <a:endParaRPr lang="en-US" altLang="ko-KR" sz="800" b="1"/>
          </a:p>
          <a:p>
            <a:r>
              <a:rPr lang="en-US" altLang="ko-KR" sz="800"/>
              <a:t>- </a:t>
            </a:r>
            <a:r>
              <a:rPr lang="ko-KR" altLang="en-US" sz="800"/>
              <a:t>전 세계 주요 거점에 위치한 대형 매장</a:t>
            </a:r>
            <a:endParaRPr lang="en-US" altLang="ko-KR" sz="800"/>
          </a:p>
          <a:p>
            <a:r>
              <a:rPr lang="en-US" altLang="ko-KR" sz="800"/>
              <a:t>- </a:t>
            </a:r>
            <a:r>
              <a:rPr lang="ko-KR" altLang="en-US" sz="800"/>
              <a:t>고객 체험 중시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 b="1"/>
              <a:t>• </a:t>
            </a:r>
            <a:r>
              <a:rPr lang="ko-KR" altLang="en-US" sz="800" b="1"/>
              <a:t>고객 구매 데이터 시스템 </a:t>
            </a:r>
            <a:r>
              <a:rPr lang="en-US" altLang="ko-KR" sz="800" b="1"/>
              <a:t>(</a:t>
            </a:r>
            <a:r>
              <a:rPr lang="ko-KR" altLang="en-US" sz="800" b="1"/>
              <a:t>정보 자산</a:t>
            </a:r>
            <a:r>
              <a:rPr lang="en-US" altLang="ko-KR" sz="800" b="1"/>
              <a:t>)</a:t>
            </a:r>
          </a:p>
          <a:p>
            <a:r>
              <a:rPr lang="en-US" altLang="ko-KR" sz="800"/>
              <a:t>- </a:t>
            </a:r>
            <a:r>
              <a:rPr lang="ko-KR" altLang="en-US" sz="800"/>
              <a:t>재고 최적화 </a:t>
            </a:r>
            <a:endParaRPr lang="en-US" altLang="ko-KR" sz="800"/>
          </a:p>
          <a:p>
            <a:r>
              <a:rPr lang="en-US" altLang="ko-KR" sz="800"/>
              <a:t>- VOC </a:t>
            </a:r>
            <a:r>
              <a:rPr lang="ko-KR" altLang="en-US" sz="800"/>
              <a:t>분석 </a:t>
            </a:r>
          </a:p>
          <a:p>
            <a:endParaRPr lang="ko-KR" altLang="en-US" sz="700" b="1"/>
          </a:p>
          <a:p>
            <a:endParaRPr lang="ko-KR" altLang="en-US" sz="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FC66D-05A1-EA1C-966B-5E162B53C242}"/>
              </a:ext>
            </a:extLst>
          </p:cNvPr>
          <p:cNvSpPr txBox="1"/>
          <p:nvPr/>
        </p:nvSpPr>
        <p:spPr>
          <a:xfrm>
            <a:off x="2297922" y="1433852"/>
            <a:ext cx="1603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/>
              <a:t>공급망 관리 및 재고 최적화</a:t>
            </a:r>
            <a:endParaRPr lang="en-US" altLang="ko-KR" sz="900" b="1"/>
          </a:p>
          <a:p>
            <a:r>
              <a:rPr lang="en-US" altLang="ko-KR" sz="900"/>
              <a:t>-   SPA </a:t>
            </a:r>
            <a:r>
              <a:rPr lang="ko-KR" altLang="en-US" sz="900"/>
              <a:t>모델의 핵심 가치</a:t>
            </a:r>
            <a:endParaRPr lang="en-US" altLang="ko-KR" sz="900"/>
          </a:p>
          <a:p>
            <a:r>
              <a:rPr lang="en-US" altLang="ko-KR" sz="900"/>
              <a:t>-  </a:t>
            </a:r>
            <a:r>
              <a:rPr lang="ko-KR" altLang="en-US" sz="900"/>
              <a:t>품절 관리</a:t>
            </a:r>
            <a:r>
              <a:rPr lang="en-US" altLang="ko-KR" sz="900"/>
              <a:t>, </a:t>
            </a:r>
            <a:r>
              <a:rPr lang="ko-KR" altLang="en-US" sz="900"/>
              <a:t>재고 최소화</a:t>
            </a:r>
            <a:endParaRPr lang="en-US" altLang="ko-KR" sz="900"/>
          </a:p>
          <a:p>
            <a:pPr marL="171450" indent="-171450">
              <a:buFontTx/>
              <a:buChar char="-"/>
            </a:pPr>
            <a:endParaRPr lang="ko-KR" altLang="en-US" sz="90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D5FF22F-DEE4-0B0C-4DC8-F7E9177DE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83010"/>
              </p:ext>
            </p:extLst>
          </p:nvPr>
        </p:nvGraphicFramePr>
        <p:xfrm>
          <a:off x="828965" y="5198662"/>
          <a:ext cx="3833378" cy="12528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652">
                  <a:extLst>
                    <a:ext uri="{9D8B030D-6E8A-4147-A177-3AD203B41FA5}">
                      <a16:colId xmlns:a16="http://schemas.microsoft.com/office/drawing/2014/main" val="3993980854"/>
                    </a:ext>
                  </a:extLst>
                </a:gridCol>
                <a:gridCol w="735097">
                  <a:extLst>
                    <a:ext uri="{9D8B030D-6E8A-4147-A177-3AD203B41FA5}">
                      <a16:colId xmlns:a16="http://schemas.microsoft.com/office/drawing/2014/main" val="3270160589"/>
                    </a:ext>
                  </a:extLst>
                </a:gridCol>
                <a:gridCol w="1863629">
                  <a:extLst>
                    <a:ext uri="{9D8B030D-6E8A-4147-A177-3AD203B41FA5}">
                      <a16:colId xmlns:a16="http://schemas.microsoft.com/office/drawing/2014/main" val="230206195"/>
                    </a:ext>
                  </a:extLst>
                </a:gridCol>
              </a:tblGrid>
              <a:tr h="2138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지출 항목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비중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국내 법인의 특징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273126"/>
                  </a:ext>
                </a:extLst>
              </a:tr>
              <a:tr h="310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매출원가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900" b="0">
                          <a:solidFill>
                            <a:srgbClr val="1F1F1F"/>
                          </a:solidFill>
                          <a:effectLst/>
                        </a:rPr>
                        <a:t>COGS)</a:t>
                      </a:r>
                      <a:endParaRPr 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약 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45%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일본 본사로부터 직매입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. </a:t>
                      </a:r>
                    </a:p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대량 물량으로 원가율 낮음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94915"/>
                  </a:ext>
                </a:extLst>
              </a:tr>
              <a:tr h="310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판매관리비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900" b="0">
                          <a:solidFill>
                            <a:srgbClr val="1F1F1F"/>
                          </a:solidFill>
                          <a:effectLst/>
                        </a:rPr>
                        <a:t>SG&amp;A)</a:t>
                      </a:r>
                      <a:endParaRPr 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약 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35~38%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인건비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임차료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900" b="0" err="1">
                          <a:solidFill>
                            <a:srgbClr val="1F1F1F"/>
                          </a:solidFill>
                          <a:effectLst/>
                        </a:rPr>
                        <a:t>물류비</a:t>
                      </a: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 등이 포함된 운영 비용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47552"/>
                  </a:ext>
                </a:extLst>
              </a:tr>
              <a:tr h="310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영업이익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약 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18~20%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글로벌 평균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(15%)</a:t>
                      </a: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보다 한국 법인의 수익성이 더 높음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283481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B654579-6158-07A3-FC82-046FE7980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13354"/>
              </p:ext>
            </p:extLst>
          </p:nvPr>
        </p:nvGraphicFramePr>
        <p:xfrm>
          <a:off x="5172365" y="5340068"/>
          <a:ext cx="3833378" cy="8355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652">
                  <a:extLst>
                    <a:ext uri="{9D8B030D-6E8A-4147-A177-3AD203B41FA5}">
                      <a16:colId xmlns:a16="http://schemas.microsoft.com/office/drawing/2014/main" val="3993980854"/>
                    </a:ext>
                  </a:extLst>
                </a:gridCol>
                <a:gridCol w="735097">
                  <a:extLst>
                    <a:ext uri="{9D8B030D-6E8A-4147-A177-3AD203B41FA5}">
                      <a16:colId xmlns:a16="http://schemas.microsoft.com/office/drawing/2014/main" val="3270160589"/>
                    </a:ext>
                  </a:extLst>
                </a:gridCol>
                <a:gridCol w="1863629">
                  <a:extLst>
                    <a:ext uri="{9D8B030D-6E8A-4147-A177-3AD203B41FA5}">
                      <a16:colId xmlns:a16="http://schemas.microsoft.com/office/drawing/2014/main" val="230206195"/>
                    </a:ext>
                  </a:extLst>
                </a:gridCol>
              </a:tblGrid>
              <a:tr h="2138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수익 항목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비중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국내 시장 특징</a:t>
                      </a: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273126"/>
                  </a:ext>
                </a:extLst>
              </a:tr>
              <a:tr h="310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오프라인 매장</a:t>
                      </a:r>
                      <a:endParaRPr 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약 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70%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핵심 상권 대형 매장과 마트 내 입점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94915"/>
                  </a:ext>
                </a:extLst>
              </a:tr>
              <a:tr h="3108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온라인 스토어</a:t>
                      </a: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</a:rPr>
                        <a:t>약 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</a:rPr>
                        <a:t>30%</a:t>
                      </a:r>
                      <a:endParaRPr lang="ko-KR" altLang="en-US" sz="900" b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‘</a:t>
                      </a: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온라인 전용 사이즈</a:t>
                      </a:r>
                      <a:r>
                        <a:rPr lang="en-US" altLang="ko-KR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’ </a:t>
                      </a:r>
                      <a:r>
                        <a:rPr lang="ko-KR" altLang="en-US" sz="9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수입</a:t>
                      </a:r>
                    </a:p>
                  </a:txBody>
                  <a:tcPr marL="45720" marR="4572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4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4416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8C41-ED2A-B696-B026-D6B6C892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87ED72-F4D5-B1AC-5CC1-A6D6FC025A0E}"/>
              </a:ext>
            </a:extLst>
          </p:cNvPr>
          <p:cNvSpPr txBox="1"/>
          <p:nvPr/>
        </p:nvSpPr>
        <p:spPr>
          <a:xfrm>
            <a:off x="8361638" y="609163"/>
            <a:ext cx="132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4</a:t>
            </a:r>
            <a:r>
              <a:rPr lang="ko-KR" altLang="en-US" err="1"/>
              <a:t>랑해요</a:t>
            </a:r>
            <a:endParaRPr lang="ko-KR" altLang="en-US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0E20C-187E-71F7-72CC-DAE396C2E867}"/>
              </a:ext>
            </a:extLst>
          </p:cNvPr>
          <p:cNvSpPr txBox="1"/>
          <p:nvPr/>
        </p:nvSpPr>
        <p:spPr>
          <a:xfrm>
            <a:off x="7591287" y="2434371"/>
            <a:ext cx="2026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프리미엄 친환경차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경험을 원하는 친환경 지향 소비자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CEC98-21C9-7C67-C510-32290A68404B}"/>
              </a:ext>
            </a:extLst>
          </p:cNvPr>
          <p:cNvSpPr txBox="1"/>
          <p:nvPr/>
        </p:nvSpPr>
        <p:spPr>
          <a:xfrm>
            <a:off x="2865120" y="309285"/>
            <a:ext cx="4320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현대자동차 프리미엄 브랜드</a:t>
            </a:r>
            <a:r>
              <a:rPr lang="en-US" altLang="ko-KR" sz="1400">
                <a:solidFill>
                  <a:schemeClr val="bg1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E410D-F865-2140-AD71-5F678A8D3CF5}"/>
              </a:ext>
            </a:extLst>
          </p:cNvPr>
          <p:cNvSpPr txBox="1"/>
          <p:nvPr/>
        </p:nvSpPr>
        <p:spPr>
          <a:xfrm>
            <a:off x="7591287" y="3058170"/>
            <a:ext cx="202640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첨단 기술에 관심이 많은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algn="ctr"/>
            <a:r>
              <a:rPr lang="ko-KR" altLang="en-US" sz="1000" err="1">
                <a:latin typeface="LG Smart UI Bold" panose="020B0800000101010101" pitchFamily="50" charset="-127"/>
                <a:ea typeface="LG Smart UI Bold"/>
              </a:rPr>
              <a:t>얼리어답터</a:t>
            </a:r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 소비자</a:t>
            </a:r>
            <a:endParaRPr lang="ko-KR">
              <a:latin typeface="Aptos" panose="02110004020202020204"/>
              <a:ea typeface="맑은 고딕" panose="020B05030200000200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A9903-4BDB-0ABA-766E-9E8EB13D82B2}"/>
              </a:ext>
            </a:extLst>
          </p:cNvPr>
          <p:cNvSpPr txBox="1"/>
          <p:nvPr/>
        </p:nvSpPr>
        <p:spPr>
          <a:xfrm>
            <a:off x="7591287" y="3681969"/>
            <a:ext cx="202640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000">
                <a:latin typeface="LG Smart UI Bold"/>
                <a:ea typeface="LG Smart UI Bold" panose="020B0800000101010101" pitchFamily="50" charset="-127"/>
              </a:rPr>
              <a:t>기존 현대차에서 업그레이드한 </a:t>
            </a:r>
            <a:endParaRPr lang="en-US" altLang="ko-KR" sz="1000">
              <a:latin typeface="LG Smart UI Bold"/>
              <a:ea typeface="LG Smart UI Bold" panose="020B0800000101010101" pitchFamily="50" charset="-127"/>
            </a:endParaRPr>
          </a:p>
          <a:p>
            <a:pPr algn="ctr"/>
            <a:r>
              <a:rPr lang="ko-KR" altLang="en-US" sz="1000">
                <a:latin typeface="LG Smart UI Bold"/>
                <a:ea typeface="LG Smart UI Bold" panose="020B0800000101010101" pitchFamily="50" charset="-127"/>
              </a:rPr>
              <a:t>고객</a:t>
            </a:r>
            <a:r>
              <a:rPr lang="en-US" altLang="ko-KR" sz="1000">
                <a:latin typeface="LG Smart UI Bold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/>
                <a:ea typeface="LG Smart UI Bold" panose="020B0800000101010101" pitchFamily="50" charset="-127"/>
              </a:rPr>
              <a:t>법인 및 기업 고객</a:t>
            </a:r>
            <a:endParaRPr lang="en-US" altLang="ko-KR" sz="1000">
              <a:latin typeface="LG Smart UI Bold"/>
              <a:ea typeface="LG Smart UI Bold" panose="020B0800000101010101" pitchFamily="50" charset="-127"/>
            </a:endParaRPr>
          </a:p>
          <a:p>
            <a:pPr algn="ctr"/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비즈니스 정체성을 차량에 투영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en-US" altLang="ko-KR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5A2E4-AF6B-D4BE-3859-0514AE5335FD}"/>
              </a:ext>
            </a:extLst>
          </p:cNvPr>
          <p:cNvSpPr txBox="1"/>
          <p:nvPr/>
        </p:nvSpPr>
        <p:spPr>
          <a:xfrm>
            <a:off x="7591287" y="1722362"/>
            <a:ext cx="202640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전통적 럭셔리</a:t>
            </a:r>
            <a:r>
              <a:rPr lang="en-US" altLang="ko-KR" sz="1000">
                <a:latin typeface="LG Smart UI Bold" panose="020B0800000101010101" pitchFamily="50" charset="-127"/>
                <a:ea typeface="LG Smart UI Bold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독일 </a:t>
            </a:r>
            <a:r>
              <a:rPr lang="en-US" altLang="ko-KR" sz="1000">
                <a:latin typeface="LG Smart UI Bold" panose="020B0800000101010101" pitchFamily="50" charset="-127"/>
                <a:ea typeface="LG Smart UI Bold"/>
              </a:rPr>
              <a:t>3</a:t>
            </a:r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사 등</a:t>
            </a:r>
            <a:r>
              <a:rPr lang="en-US" altLang="ko-KR" sz="1000">
                <a:latin typeface="LG Smart UI Bold" panose="020B0800000101010101" pitchFamily="50" charset="-127"/>
                <a:ea typeface="LG Smart UI Bold"/>
              </a:rPr>
              <a:t>)</a:t>
            </a:r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를 </a:t>
            </a:r>
            <a:endParaRPr lang="en-US" altLang="ko-KR" sz="1000">
              <a:latin typeface="LG Smart UI Bold" panose="020B0800000101010101" pitchFamily="50" charset="-127"/>
              <a:ea typeface="LG Smart UI Bold"/>
            </a:endParaRPr>
          </a:p>
          <a:p>
            <a:pPr algn="ctr"/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넘어 프리미엄 가치를 추구하는</a:t>
            </a:r>
            <a:endParaRPr lang="en-US" altLang="ko-KR" sz="1000">
              <a:latin typeface="LG Smart UI Bold" panose="020B0800000101010101" pitchFamily="50" charset="-127"/>
              <a:ea typeface="LG Smart UI Bold"/>
            </a:endParaRPr>
          </a:p>
          <a:p>
            <a:pPr algn="ctr"/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합리적인 소비자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C429B-49DD-3CDD-0292-D562393BAE2D}"/>
              </a:ext>
            </a:extLst>
          </p:cNvPr>
          <p:cNvSpPr txBox="1"/>
          <p:nvPr/>
        </p:nvSpPr>
        <p:spPr>
          <a:xfrm>
            <a:off x="4069339" y="1522307"/>
            <a:ext cx="202640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 b="1">
                <a:latin typeface="LG Smart UI Bold"/>
                <a:ea typeface="LG Smart UI Bold" panose="020B0800000101010101" pitchFamily="50" charset="-127"/>
              </a:rPr>
              <a:t>가성비 프리미엄</a:t>
            </a:r>
            <a:endParaRPr lang="en-US" altLang="ko-KR" sz="1000" b="1">
              <a:latin typeface="LG Smart UI Bold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/>
                <a:ea typeface="LG Smart UI Bold" panose="020B0800000101010101" pitchFamily="50" charset="-127"/>
              </a:rPr>
              <a:t>기존 </a:t>
            </a:r>
            <a:r>
              <a:rPr lang="ko-KR" altLang="en-US" sz="1000" err="1">
                <a:latin typeface="LG Smart UI Bold"/>
                <a:ea typeface="LG Smart UI Bold" panose="020B0800000101010101" pitchFamily="50" charset="-127"/>
              </a:rPr>
              <a:t>고급차</a:t>
            </a:r>
            <a:r>
              <a:rPr lang="ko-KR" altLang="en-US" sz="1000">
                <a:latin typeface="LG Smart UI Bold"/>
                <a:ea typeface="LG Smart UI Bold" panose="020B0800000101010101" pitchFamily="50" charset="-127"/>
              </a:rPr>
              <a:t> 대비 낮은 구매 비용</a:t>
            </a:r>
            <a:endParaRPr lang="en-US" altLang="ko-KR" sz="1000">
              <a:latin typeface="LG Smart UI Bold"/>
              <a:ea typeface="LG Smart UI Bold" panose="020B08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CC87DF-5AA8-61C8-2528-5E8493F49727}"/>
              </a:ext>
            </a:extLst>
          </p:cNvPr>
          <p:cNvSpPr txBox="1"/>
          <p:nvPr/>
        </p:nvSpPr>
        <p:spPr>
          <a:xfrm>
            <a:off x="4069339" y="2024776"/>
            <a:ext cx="178959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 b="1">
                <a:latin typeface="LG Smart UI Bold"/>
                <a:ea typeface="LG Smart UI Bold" panose="020B0800000101010101" pitchFamily="50" charset="-127"/>
              </a:rPr>
              <a:t>친환경 전기차 경험</a:t>
            </a:r>
            <a:endParaRPr lang="en-US" altLang="ko-KR" sz="1000" b="1">
              <a:latin typeface="LG Smart UI Bold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지속 가능성과 주행 퍼포먼스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4CA10-388E-AA67-0462-DB3DFDBC0B60}"/>
              </a:ext>
            </a:extLst>
          </p:cNvPr>
          <p:cNvSpPr txBox="1"/>
          <p:nvPr/>
        </p:nvSpPr>
        <p:spPr>
          <a:xfrm>
            <a:off x="4069339" y="2558422"/>
            <a:ext cx="202640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 b="1">
                <a:latin typeface="LG Smart UI Bold" panose="020B0800000101010101" pitchFamily="50" charset="-127"/>
                <a:ea typeface="LG Smart UI Bold"/>
              </a:rPr>
              <a:t>스마트 </a:t>
            </a:r>
            <a:r>
              <a:rPr lang="ko-KR" altLang="en-US" sz="1000" b="1" err="1">
                <a:latin typeface="LG Smart UI Bold" panose="020B0800000101010101" pitchFamily="50" charset="-127"/>
                <a:ea typeface="LG Smart UI Bold"/>
              </a:rPr>
              <a:t>모빌리티</a:t>
            </a:r>
            <a:r>
              <a:rPr lang="ko-KR" altLang="en-US" sz="1000" b="1">
                <a:latin typeface="LG Smart UI Bold" panose="020B0800000101010101" pitchFamily="50" charset="-127"/>
                <a:ea typeface="LG Smart UI Bold"/>
              </a:rPr>
              <a:t> 경험</a:t>
            </a:r>
            <a:endParaRPr lang="en-US" altLang="ko-KR" sz="1000" b="1">
              <a:latin typeface="LG Smart UI Bold" panose="020B0800000101010101" pitchFamily="50" charset="-127"/>
              <a:ea typeface="LG Smart UI Bold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주행 생활 편리성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583E99-5365-AB02-A795-F54D1033E93E}"/>
              </a:ext>
            </a:extLst>
          </p:cNvPr>
          <p:cNvSpPr txBox="1"/>
          <p:nvPr/>
        </p:nvSpPr>
        <p:spPr>
          <a:xfrm>
            <a:off x="4069339" y="3092068"/>
            <a:ext cx="202640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 b="1">
                <a:latin typeface="LG Smart UI Bold"/>
                <a:ea typeface="LG Smart UI Bold" panose="020B0800000101010101" pitchFamily="50" charset="-127"/>
              </a:rPr>
              <a:t>비즈니스 이미지 업그레이드</a:t>
            </a:r>
            <a:endParaRPr lang="en-US" altLang="ko-KR" sz="1000" b="1">
              <a:latin typeface="LG Smart UI Bold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/>
              </a:rPr>
              <a:t>-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/>
              </a:rPr>
              <a:t>고급감</a:t>
            </a:r>
            <a:r>
              <a:rPr lang="en-US" altLang="ko-KR" sz="1000">
                <a:latin typeface="LG Smart UI Bold" panose="020B0800000101010101" pitchFamily="50" charset="-127"/>
                <a:ea typeface="LG Smart UI Bold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/>
              </a:rPr>
              <a:t>신뢰성 제공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3710A-18E8-16B7-107E-FFBAA4E90384}"/>
              </a:ext>
            </a:extLst>
          </p:cNvPr>
          <p:cNvSpPr txBox="1"/>
          <p:nvPr/>
        </p:nvSpPr>
        <p:spPr>
          <a:xfrm>
            <a:off x="2279745" y="3196670"/>
            <a:ext cx="202640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물리적 자원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디자인 및 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R&amp;D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센터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전용 정비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/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충전 인프라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전용 파워트레인 및 엔진</a:t>
            </a:r>
            <a:endParaRPr lang="en-US" altLang="ko-KR" sz="9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인적 자원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전담 차량 정비 엔지니어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견적 전문 큐레이터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디자이너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기술 자원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전기차 및 자율주행 기술력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지적 자원</a:t>
            </a:r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900">
                <a:latin typeface="LG Smart UI Bold" panose="020B0800000101010101" pitchFamily="50" charset="-127"/>
                <a:ea typeface="LG Smart UI Bold" panose="020B0800000101010101" pitchFamily="50" charset="-127"/>
              </a:rPr>
              <a:t>프리미엄 브랜드 자산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04FA9-E33A-0049-77F9-7D4B4049CD49}"/>
              </a:ext>
            </a:extLst>
          </p:cNvPr>
          <p:cNvSpPr txBox="1"/>
          <p:nvPr/>
        </p:nvSpPr>
        <p:spPr>
          <a:xfrm>
            <a:off x="5858933" y="3258225"/>
            <a:ext cx="2026402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온라인</a:t>
            </a:r>
            <a:r>
              <a:rPr lang="en-US" altLang="ko-KR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공식 사이트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디지털 쇼룸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브랜드 콘텐츠 플랫폼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MY GENESIS</a:t>
            </a:r>
          </a:p>
          <a:p>
            <a:endParaRPr lang="en-US" altLang="ko-KR" sz="1000" b="1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오프라인</a:t>
            </a:r>
            <a:r>
              <a:rPr lang="en-US" altLang="ko-KR" sz="1000" b="1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전용 서비스 센터 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라운지 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스튜디오 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팝업 스튜디오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B480B-FFC4-AE3C-4083-37E96F3F24CF}"/>
              </a:ext>
            </a:extLst>
          </p:cNvPr>
          <p:cNvSpPr txBox="1"/>
          <p:nvPr/>
        </p:nvSpPr>
        <p:spPr>
          <a:xfrm>
            <a:off x="5858933" y="1429812"/>
            <a:ext cx="202640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신규 고객 확보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신차 런칭 이벤트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프레스티지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서비스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기존 고객 유지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관리 서비스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홈투홈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(Home-to-Home)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서비스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[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매출 성장 촉진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]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EV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멤버십 및 충전 서비스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법인 고객 전용 서비스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AADE3-6B1E-A50C-7B83-642446C35725}"/>
              </a:ext>
            </a:extLst>
          </p:cNvPr>
          <p:cNvSpPr txBox="1"/>
          <p:nvPr/>
        </p:nvSpPr>
        <p:spPr>
          <a:xfrm>
            <a:off x="5005567" y="5194359"/>
            <a:ext cx="4678942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판매 수익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법인 대상 대량 판매 수익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옵션 및 커스터마이징 수익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금융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리스 프로그램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리스 및 장기 렌트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할부 금융 이자 수익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부티크 수익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컬렉션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액세서리 판매 수익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애프터서비스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정비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및 유지보수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부품 교체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보증 연장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B2B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데이터 비즈니스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제네시스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디벨로퍼스로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수집된 주행 데이터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상태 데이터로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                                 신규 수익 모델 수립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추가 수익 창출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  <a:endParaRPr lang="ko-KR" altLang="en-US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커넥티드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&amp;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구독 서비스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구독형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커넥티드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서비스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(Genesis Connected Services)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                                 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업데이트 유료 기능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(OTA)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5EC48-A86C-8A75-D70D-EDB8F81B94C6}"/>
              </a:ext>
            </a:extLst>
          </p:cNvPr>
          <p:cNvSpPr txBox="1"/>
          <p:nvPr/>
        </p:nvSpPr>
        <p:spPr>
          <a:xfrm>
            <a:off x="403598" y="5123239"/>
            <a:ext cx="467894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R&amp;D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투자비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전동화 및 미래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모빌리티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개발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생산 및 제조 비용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부품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공장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인건비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유통 및 판매 채널 비용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전시장 운영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디지털 마케팅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커넥티드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IT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운영 비용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통신사 연동 비용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OTA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업데이트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2768B-E86F-BFD8-C401-256D1F94B5FE}"/>
              </a:ext>
            </a:extLst>
          </p:cNvPr>
          <p:cNvSpPr txBox="1"/>
          <p:nvPr/>
        </p:nvSpPr>
        <p:spPr>
          <a:xfrm>
            <a:off x="2279745" y="1461007"/>
            <a:ext cx="202640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개발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&amp;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연구 개발 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전동화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·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고성능 파워트레인 및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플랫폼 개발</a:t>
            </a: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생산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품질 관리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고객 서비스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경험 관리 </a:t>
            </a:r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프리미엄 서비스 교육 및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 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고객 케어 운영</a:t>
            </a: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프리미엄 마케팅 진행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-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브랜드 이미지 구축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2894EF-A1DD-0AE6-CFC5-A9F7BC36D362}"/>
              </a:ext>
            </a:extLst>
          </p:cNvPr>
          <p:cNvSpPr txBox="1"/>
          <p:nvPr/>
        </p:nvSpPr>
        <p:spPr>
          <a:xfrm>
            <a:off x="400367" y="1461007"/>
            <a:ext cx="2026402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배터리 및 전동화 기술 파트너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 LG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에너지솔루션</a:t>
            </a:r>
          </a:p>
          <a:p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부품 공급업체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생산 측면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 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현대모비스</a:t>
            </a:r>
          </a:p>
          <a:p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금융 파트너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할부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리스 지원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 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현대 캐피탈</a:t>
            </a:r>
          </a:p>
          <a:p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차량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커넥티드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 전문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IT,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소프트웨어 기업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(AI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기술력 지원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 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 </a:t>
            </a:r>
            <a:r>
              <a:rPr lang="ko-KR" altLang="en-US" sz="100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현대오토에버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, NVDIA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등</a:t>
            </a:r>
          </a:p>
          <a:p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유통 및 서비스 파트너 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 Genesis Studio</a:t>
            </a:r>
          </a:p>
          <a:p>
            <a:endParaRPr lang="en-US" altLang="ko-KR" sz="100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브랜드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/ 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문화 협업 파트너 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브랜딩 측면</a:t>
            </a: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) </a:t>
            </a:r>
            <a:b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</a:br>
            <a:r>
              <a:rPr lang="en-US" altLang="ko-KR" sz="1000">
                <a:latin typeface="LG Smart UI Bold" panose="020B0800000101010101" pitchFamily="50" charset="-127"/>
                <a:ea typeface="LG Smart UI Bold" panose="020B0800000101010101" pitchFamily="50" charset="-127"/>
              </a:rPr>
              <a:t>&gt;Tate Modern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74E2DED-35B6-C9E1-CE64-DA7025B2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364DC7-E7F8-7B98-DC58-5A8FB503F0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05"/>
          <a:stretch>
            <a:fillRect/>
          </a:stretch>
        </p:blipFill>
        <p:spPr>
          <a:xfrm>
            <a:off x="9067800" y="0"/>
            <a:ext cx="838200" cy="106888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5A57D55-8CE9-86D5-5933-EF2D38E06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197"/>
          <a:stretch>
            <a:fillRect/>
          </a:stretch>
        </p:blipFill>
        <p:spPr>
          <a:xfrm rot="20125653">
            <a:off x="8931544" y="252279"/>
            <a:ext cx="784199" cy="17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6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70CC-F0C8-E77E-3109-16332D19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1BB452-C96D-E338-DA0D-F3E6247E1972}"/>
              </a:ext>
            </a:extLst>
          </p:cNvPr>
          <p:cNvSpPr txBox="1"/>
          <p:nvPr/>
        </p:nvSpPr>
        <p:spPr>
          <a:xfrm>
            <a:off x="8361638" y="609163"/>
            <a:ext cx="14021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5조 is  Good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747C6-4B07-E881-C141-EDBC0CFC92D0}"/>
              </a:ext>
            </a:extLst>
          </p:cNvPr>
          <p:cNvSpPr txBox="1"/>
          <p:nvPr/>
        </p:nvSpPr>
        <p:spPr>
          <a:xfrm>
            <a:off x="3037183" y="262009"/>
            <a:ext cx="38293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  <a:ea typeface="맑은 고딕"/>
              </a:rPr>
              <a:t>NVIDIA </a:t>
            </a:r>
            <a:r>
              <a:rPr lang="ko-KR" altLang="en-US" sz="1600" b="1">
                <a:solidFill>
                  <a:schemeClr val="bg1"/>
                </a:solidFill>
                <a:ea typeface="맑은 고딕"/>
              </a:rPr>
              <a:t>Business Model Canvas</a:t>
            </a:r>
            <a:endParaRPr lang="en-US" altLang="ko-KR" sz="16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4F0D7-B44A-0FD0-9EC0-78C9AD77737A}"/>
              </a:ext>
            </a:extLst>
          </p:cNvPr>
          <p:cNvSpPr txBox="1"/>
          <p:nvPr/>
        </p:nvSpPr>
        <p:spPr>
          <a:xfrm>
            <a:off x="7746016" y="1590344"/>
            <a:ext cx="177807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 b="1">
                <a:ea typeface="+mn-lt"/>
                <a:cs typeface="+mn-lt"/>
              </a:rPr>
              <a:t>서버 제조사</a:t>
            </a:r>
            <a:endParaRPr lang="en-US" sz="1600"/>
          </a:p>
          <a:p>
            <a:pPr marL="285750" indent="-285750">
              <a:buFont typeface="Calibri"/>
              <a:buChar char="-"/>
            </a:pPr>
            <a:r>
              <a:rPr lang="ko-KR" altLang="en-US" sz="1200">
                <a:ea typeface="맑은 고딕"/>
              </a:rPr>
              <a:t>HP, DELL</a:t>
            </a:r>
          </a:p>
          <a:p>
            <a:pPr marL="285750" indent="-285750">
              <a:buFont typeface="Calibri"/>
              <a:buChar char="-"/>
            </a:pPr>
            <a:endParaRPr lang="ko-KR" altLang="en-US" sz="1200">
              <a:ea typeface="맑은 고딕"/>
            </a:endParaRPr>
          </a:p>
          <a:p>
            <a:r>
              <a:rPr lang="ko-KR" sz="1200" b="1">
                <a:ea typeface="+mn-lt"/>
                <a:cs typeface="+mn-lt"/>
              </a:rPr>
              <a:t>하이퍼스케일러</a:t>
            </a:r>
            <a:endParaRPr lang="ko-KR" altLang="en-US" sz="1200"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200">
                <a:ea typeface="맑은 고딕"/>
              </a:rPr>
              <a:t>GOOGLE, AWS, Microsoft</a:t>
            </a:r>
          </a:p>
          <a:p>
            <a:pPr marL="285750" indent="-285750">
              <a:buFont typeface="Calibri"/>
              <a:buChar char="-"/>
            </a:pPr>
            <a:endParaRPr lang="ko-KR" altLang="en-US" sz="1200" b="1">
              <a:ea typeface="맑은 고딕"/>
            </a:endParaRPr>
          </a:p>
          <a:p>
            <a:r>
              <a:rPr lang="ko-KR" altLang="en-US" sz="1200" b="1">
                <a:ea typeface="+mn-lt"/>
                <a:cs typeface="+mn-lt"/>
              </a:rPr>
              <a:t>빅테크</a:t>
            </a:r>
            <a:r>
              <a:rPr lang="ko-KR" sz="1200" b="1">
                <a:ea typeface="+mn-lt"/>
                <a:cs typeface="+mn-lt"/>
              </a:rPr>
              <a:t> 및 AI 전문 기업</a:t>
            </a:r>
            <a:endParaRPr lang="ko-KR" altLang="en-US" sz="1200">
              <a:ea typeface="맑은 고딕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altLang="ko-KR" sz="1200">
                <a:ea typeface="+mn-lt"/>
                <a:cs typeface="+mn-lt"/>
              </a:rPr>
              <a:t>Meta, Tesla, Open AI</a:t>
            </a:r>
            <a:endParaRPr lang="en-US" altLang="ko-KR" sz="1200">
              <a:ea typeface="맑은 고딕"/>
            </a:endParaRPr>
          </a:p>
          <a:p>
            <a:endParaRPr lang="en-US" altLang="ko-KR" sz="1200">
              <a:ea typeface="맑은 고딕"/>
            </a:endParaRPr>
          </a:p>
          <a:p>
            <a:r>
              <a:rPr lang="en-US" altLang="ko-KR" sz="1200" b="1" err="1">
                <a:ea typeface="맑은 고딕"/>
              </a:rPr>
              <a:t>개인</a:t>
            </a:r>
            <a:endParaRPr lang="en-US" altLang="ko-KR" sz="1200" b="1">
              <a:ea typeface="맑은 고딕"/>
            </a:endParaRPr>
          </a:p>
          <a:p>
            <a:endParaRPr lang="ko-KR" altLang="en-US" sz="1200"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0E4B9-BA24-4FA9-11D9-BC0B472DE231}"/>
              </a:ext>
            </a:extLst>
          </p:cNvPr>
          <p:cNvSpPr txBox="1"/>
          <p:nvPr/>
        </p:nvSpPr>
        <p:spPr>
          <a:xfrm>
            <a:off x="4032404" y="1444871"/>
            <a:ext cx="1892414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 b="1">
                <a:ea typeface="+mn-lt"/>
                <a:cs typeface="+mn-lt"/>
              </a:rPr>
              <a:t>서버제조사 </a:t>
            </a:r>
            <a:r>
              <a:rPr lang="en-US" altLang="ko-KR" sz="1200" b="1">
                <a:ea typeface="+mn-lt"/>
                <a:cs typeface="+mn-lt"/>
              </a:rPr>
              <a:t>VP</a:t>
            </a:r>
            <a:endParaRPr lang="ko-KR" sz="1200" b="1"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en-US" altLang="ko-KR" sz="1200">
                <a:ea typeface="맑은 고딕"/>
              </a:rPr>
              <a:t>HGX/DGX </a:t>
            </a:r>
            <a:r>
              <a:rPr lang="en-US" altLang="ko-KR" sz="1200" err="1">
                <a:ea typeface="맑은 고딕"/>
              </a:rPr>
              <a:t>레퍼런스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아키텍처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제공</a:t>
            </a:r>
            <a:endParaRPr lang="en-US" altLang="ko-KR" sz="1200">
              <a:ea typeface="맑은 고딕"/>
            </a:endParaRPr>
          </a:p>
          <a:p>
            <a:endParaRPr lang="en-US" altLang="ko-KR" sz="1200">
              <a:ea typeface="맑은 고딕"/>
            </a:endParaRPr>
          </a:p>
          <a:p>
            <a:pPr>
              <a:buFont typeface="Calibri"/>
            </a:pPr>
            <a:r>
              <a:rPr lang="en-US" altLang="ko-KR" sz="1200" b="1" err="1">
                <a:ea typeface="맑은 고딕"/>
              </a:rPr>
              <a:t>하이퍼스케일러</a:t>
            </a:r>
            <a:r>
              <a:rPr lang="en-US" altLang="ko-KR" sz="1200" b="1">
                <a:ea typeface="맑은 고딕"/>
              </a:rPr>
              <a:t> VP</a:t>
            </a:r>
          </a:p>
          <a:p>
            <a:pPr marL="285750" indent="-285750">
              <a:buFont typeface="Calibri"/>
              <a:buChar char="-"/>
            </a:pPr>
            <a:r>
              <a:rPr lang="en-US" altLang="ko-KR" sz="1200">
                <a:ea typeface="맑은 고딕"/>
              </a:rPr>
              <a:t>CUDA </a:t>
            </a:r>
            <a:r>
              <a:rPr lang="en-US" altLang="ko-KR" sz="1200" err="1">
                <a:ea typeface="맑은 고딕"/>
              </a:rPr>
              <a:t>생태계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기반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개발자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수요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흡수</a:t>
            </a:r>
            <a:endParaRPr lang="en-US" altLang="ko-KR" sz="1200">
              <a:ea typeface="맑은 고딕"/>
            </a:endParaRPr>
          </a:p>
          <a:p>
            <a:pPr marL="285750" indent="-285750">
              <a:buFont typeface="Calibri"/>
              <a:buChar char="-"/>
            </a:pPr>
            <a:endParaRPr lang="en-US" altLang="ko-KR" sz="1200">
              <a:ea typeface="맑은 고딕"/>
            </a:endParaRPr>
          </a:p>
          <a:p>
            <a:r>
              <a:rPr lang="en-US" altLang="ko-KR" sz="1200" b="1" err="1">
                <a:ea typeface="맑은 고딕"/>
              </a:rPr>
              <a:t>빅테크</a:t>
            </a:r>
            <a:r>
              <a:rPr lang="en-US" altLang="ko-KR" sz="1200" b="1">
                <a:ea typeface="맑은 고딕"/>
              </a:rPr>
              <a:t> 및 </a:t>
            </a:r>
            <a:r>
              <a:rPr lang="en-US" altLang="ko-KR" sz="1200" b="1" err="1">
                <a:ea typeface="맑은 고딕"/>
              </a:rPr>
              <a:t>AI기업</a:t>
            </a:r>
            <a:r>
              <a:rPr lang="en-US" altLang="ko-KR" sz="1200" b="1">
                <a:ea typeface="맑은 고딕"/>
              </a:rPr>
              <a:t> VP</a:t>
            </a:r>
          </a:p>
          <a:p>
            <a:pPr marL="285750" indent="-285750">
              <a:buFont typeface="Calibri"/>
              <a:buChar char="-"/>
            </a:pPr>
            <a:r>
              <a:rPr lang="en-US" altLang="ko-KR" sz="1200" err="1">
                <a:ea typeface="맑은 고딕"/>
              </a:rPr>
              <a:t>학습속도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향상</a:t>
            </a:r>
            <a:endParaRPr lang="en-US" altLang="ko-KR" sz="1200">
              <a:ea typeface="맑은 고딕"/>
            </a:endParaRPr>
          </a:p>
          <a:p>
            <a:endParaRPr lang="en-US" altLang="ko-KR" sz="1200">
              <a:ea typeface="맑은 고딕"/>
            </a:endParaRPr>
          </a:p>
          <a:p>
            <a:pPr>
              <a:buFont typeface="Calibri"/>
            </a:pPr>
            <a:r>
              <a:rPr lang="en-US" altLang="ko-KR" sz="1200" b="1" err="1">
                <a:ea typeface="맑은 고딕"/>
              </a:rPr>
              <a:t>개인</a:t>
            </a:r>
            <a:r>
              <a:rPr lang="en-US" altLang="ko-KR" sz="1200" b="1">
                <a:ea typeface="맑은 고딕"/>
              </a:rPr>
              <a:t> VP</a:t>
            </a:r>
            <a:endParaRPr lang="en-US" altLang="ko-KR" sz="1200" err="1">
              <a:ea typeface="맑은 고딕"/>
            </a:endParaRPr>
          </a:p>
          <a:p>
            <a:pPr marL="285750" indent="-285750">
              <a:buFont typeface="Calibri,Sans-Serif"/>
              <a:buChar char="-"/>
            </a:pPr>
            <a:r>
              <a:rPr lang="ko-KR" altLang="en-US" sz="1200">
                <a:ea typeface="맑은 고딕"/>
              </a:rPr>
              <a:t>그래픽</a:t>
            </a:r>
            <a:r>
              <a:rPr lang="en-US" altLang="ko-KR" sz="1200">
                <a:ea typeface="맑은 고딕"/>
              </a:rPr>
              <a:t> </a:t>
            </a:r>
            <a:r>
              <a:rPr lang="ko-KR" altLang="en-US" sz="1200">
                <a:ea typeface="맑은 고딕"/>
              </a:rPr>
              <a:t>성능</a:t>
            </a:r>
          </a:p>
          <a:p>
            <a:endParaRPr lang="ko-KR" altLang="en-US" sz="1200">
              <a:solidFill>
                <a:srgbClr val="FF0000"/>
              </a:solidFill>
              <a:ea typeface="맑은 고딕"/>
            </a:endParaRPr>
          </a:p>
          <a:p>
            <a:r>
              <a:rPr lang="ko-KR" altLang="en-US" sz="1400" b="1">
                <a:solidFill>
                  <a:srgbClr val="FF0000"/>
                </a:solidFill>
                <a:ea typeface="맑은 고딕"/>
              </a:rPr>
              <a:t>공통 : </a:t>
            </a:r>
            <a:r>
              <a:rPr lang="en-US" altLang="ko-KR" sz="1400" b="1">
                <a:solidFill>
                  <a:srgbClr val="FF0000"/>
                </a:solidFill>
                <a:ea typeface="맑은 고딕"/>
              </a:rPr>
              <a:t>NVIDIA </a:t>
            </a:r>
            <a:r>
              <a:rPr lang="ko-KR" altLang="en-US" sz="1400" b="1">
                <a:solidFill>
                  <a:srgbClr val="FF0000"/>
                </a:solidFill>
                <a:ea typeface="맑은 고딕"/>
              </a:rPr>
              <a:t>칩</a:t>
            </a:r>
            <a:r>
              <a:rPr lang="en-US" altLang="ko-KR" sz="1400" b="1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sz="1400" b="1">
                <a:solidFill>
                  <a:srgbClr val="FF0000"/>
                </a:solidFill>
                <a:ea typeface="맑은 고딕"/>
              </a:rPr>
              <a:t>성능</a:t>
            </a:r>
            <a:endParaRPr lang="en-US" altLang="ko-KR" sz="1400" b="1">
              <a:solidFill>
                <a:srgbClr val="FF0000"/>
              </a:solidFill>
              <a:ea typeface="맑은 고딕"/>
            </a:endParaRPr>
          </a:p>
          <a:p>
            <a:endParaRPr lang="ko-KR" altLang="en-US" sz="1200">
              <a:ea typeface="맑은 고딕"/>
            </a:endParaRPr>
          </a:p>
          <a:p>
            <a:endParaRPr lang="ko-KR" altLang="en-US" sz="1200">
              <a:ea typeface="맑은 고딕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8F0F88-3ABB-62AE-E31E-4FC28C95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925" y="5175539"/>
            <a:ext cx="4145691" cy="1245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56D73E-3221-7A52-A2C9-112D4E459D97}"/>
              </a:ext>
            </a:extLst>
          </p:cNvPr>
          <p:cNvSpPr txBox="1"/>
          <p:nvPr/>
        </p:nvSpPr>
        <p:spPr>
          <a:xfrm>
            <a:off x="5915616" y="1511902"/>
            <a:ext cx="173988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altLang="ko-KR" sz="1200" err="1">
                <a:ea typeface="맑은 고딕"/>
              </a:rPr>
              <a:t>우리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제품과의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호환성</a:t>
            </a:r>
          </a:p>
          <a:p>
            <a:pPr marL="285750" indent="-285750">
              <a:buFont typeface="Calibri"/>
              <a:buChar char="-"/>
            </a:pPr>
            <a:r>
              <a:rPr lang="ko-KR" altLang="en-US" sz="1200">
                <a:ea typeface="맑은 고딕"/>
              </a:rPr>
              <a:t>새로운</a:t>
            </a:r>
            <a:r>
              <a:rPr lang="en-US" sz="1200">
                <a:ea typeface="맑은 고딕"/>
              </a:rPr>
              <a:t> CHIP, </a:t>
            </a:r>
            <a:r>
              <a:rPr lang="en-US" sz="1200" err="1">
                <a:ea typeface="맑은 고딕"/>
              </a:rPr>
              <a:t>기술</a:t>
            </a:r>
            <a:r>
              <a:rPr lang="en-US" sz="1200">
                <a:ea typeface="맑은 고딕"/>
              </a:rPr>
              <a:t> </a:t>
            </a:r>
            <a:r>
              <a:rPr lang="en-US" sz="1200" err="1">
                <a:ea typeface="맑은 고딕"/>
              </a:rPr>
              <a:t>발표</a:t>
            </a:r>
            <a:r>
              <a:rPr lang="en-US" sz="1200">
                <a:ea typeface="맑은 고딕"/>
              </a:rPr>
              <a:t>, </a:t>
            </a:r>
            <a:r>
              <a:rPr lang="en-US" sz="1200" err="1">
                <a:ea typeface="맑은 고딕"/>
              </a:rPr>
              <a:t>성능</a:t>
            </a:r>
            <a:r>
              <a:rPr lang="en-US" sz="1200">
                <a:ea typeface="맑은 고딕"/>
              </a:rPr>
              <a:t> </a:t>
            </a:r>
            <a:r>
              <a:rPr lang="en-US" sz="1200" err="1">
                <a:ea typeface="맑은 고딕"/>
              </a:rPr>
              <a:t>극대화</a:t>
            </a:r>
            <a:endParaRPr lang="en-US" altLang="ko-KR" sz="1200" err="1">
              <a:ea typeface="맑은 고딕"/>
            </a:endParaRPr>
          </a:p>
          <a:p>
            <a:pPr marL="285750" indent="-285750">
              <a:buFont typeface="Calibri"/>
              <a:buChar char="-"/>
            </a:pPr>
            <a:endParaRPr lang="en-US" altLang="ko-KR" sz="1200"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en-US" altLang="ko-KR" sz="1200" err="1">
                <a:ea typeface="맑은 고딕"/>
              </a:rPr>
              <a:t>드라이버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업데이트</a:t>
            </a:r>
            <a:r>
              <a:rPr lang="en-US" altLang="ko-KR" sz="1200">
                <a:ea typeface="맑은 고딕"/>
              </a:rPr>
              <a:t>, </a:t>
            </a:r>
            <a:r>
              <a:rPr lang="en-US" altLang="ko-KR" sz="1200" err="1">
                <a:ea typeface="맑은 고딕"/>
              </a:rPr>
              <a:t>최적화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설정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88851-2D23-2A29-7939-35BCEB5C6DEE}"/>
              </a:ext>
            </a:extLst>
          </p:cNvPr>
          <p:cNvSpPr txBox="1"/>
          <p:nvPr/>
        </p:nvSpPr>
        <p:spPr>
          <a:xfrm>
            <a:off x="5896170" y="3338360"/>
            <a:ext cx="17652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ea typeface="맑은 고딕"/>
              </a:rPr>
              <a:t>온라인 판매</a:t>
            </a:r>
          </a:p>
          <a:p>
            <a:endParaRPr lang="ko-KR" altLang="en-US" sz="1200" b="1">
              <a:ea typeface="맑은 고딕"/>
            </a:endParaRPr>
          </a:p>
          <a:p>
            <a:r>
              <a:rPr lang="ko-KR" altLang="en-US" sz="1200" b="1">
                <a:ea typeface="맑은 고딕"/>
              </a:rPr>
              <a:t>파트너사 통한 간접판매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5F32E-214D-B730-15AE-C65DC9C168B2}"/>
              </a:ext>
            </a:extLst>
          </p:cNvPr>
          <p:cNvSpPr txBox="1"/>
          <p:nvPr/>
        </p:nvSpPr>
        <p:spPr>
          <a:xfrm>
            <a:off x="2233579" y="3338360"/>
            <a:ext cx="180127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ea typeface="맑은 고딕"/>
              </a:rPr>
              <a:t>지적 자산 : </a:t>
            </a:r>
            <a:r>
              <a:rPr lang="ko-KR" altLang="en-US" sz="1200">
                <a:ea typeface="맑은 고딕"/>
              </a:rPr>
              <a:t>압도적인 설계 기술력</a:t>
            </a:r>
          </a:p>
          <a:p>
            <a:endParaRPr lang="ko-KR" altLang="en-US" sz="1200">
              <a:ea typeface="맑은 고딕"/>
            </a:endParaRPr>
          </a:p>
          <a:p>
            <a:r>
              <a:rPr lang="ko-KR" altLang="en-US" sz="1200" b="1">
                <a:ea typeface="맑은 고딕"/>
              </a:rPr>
              <a:t>인적 자원 : </a:t>
            </a:r>
            <a:r>
              <a:rPr lang="ko-KR" altLang="en-US" sz="1200">
                <a:ea typeface="맑은 고딕"/>
              </a:rPr>
              <a:t>설계 기술 인력</a:t>
            </a:r>
          </a:p>
          <a:p>
            <a:endParaRPr lang="ko-KR" altLang="en-US" sz="1200">
              <a:ea typeface="맑은 고딕"/>
            </a:endParaRPr>
          </a:p>
          <a:p>
            <a:endParaRPr lang="ko-KR" altLang="en-US" sz="1200"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0AC61E-88D3-4D9E-A9B3-7D96A8A5E1D0}"/>
              </a:ext>
            </a:extLst>
          </p:cNvPr>
          <p:cNvSpPr txBox="1"/>
          <p:nvPr/>
        </p:nvSpPr>
        <p:spPr>
          <a:xfrm>
            <a:off x="2233579" y="1465036"/>
            <a:ext cx="180127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R&amp;D</a:t>
            </a:r>
            <a:r>
              <a:rPr lang="en-US" sz="1200"/>
              <a:t> : </a:t>
            </a:r>
            <a:r>
              <a:rPr lang="ko-KR" altLang="en-US" sz="1200" err="1">
                <a:ea typeface="맑은 고딕"/>
              </a:rPr>
              <a:t>투자</a:t>
            </a:r>
            <a:r>
              <a:rPr lang="en-US" altLang="ko-KR" sz="1200">
                <a:ea typeface="맑은 고딕"/>
              </a:rPr>
              <a:t> </a:t>
            </a:r>
            <a:r>
              <a:rPr lang="ko-KR" altLang="en-US" sz="1200" err="1">
                <a:ea typeface="맑은 고딕"/>
              </a:rPr>
              <a:t>비용</a:t>
            </a:r>
            <a:r>
              <a:rPr lang="en-US" sz="1200"/>
              <a:t> </a:t>
            </a:r>
            <a:r>
              <a:rPr lang="ko-KR" altLang="en-US" sz="1200">
                <a:ea typeface="맑은 고딕"/>
              </a:rPr>
              <a:t>높여서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기술개발</a:t>
            </a:r>
            <a:r>
              <a:rPr lang="en-US" altLang="ko-KR" sz="1200">
                <a:ea typeface="맑은 고딕"/>
              </a:rPr>
              <a:t>, </a:t>
            </a:r>
            <a:r>
              <a:rPr lang="en-US" altLang="ko-KR" sz="1200" err="1">
                <a:ea typeface="맑은 고딕"/>
              </a:rPr>
              <a:t>초격차</a:t>
            </a:r>
          </a:p>
          <a:p>
            <a:endParaRPr lang="en-US" altLang="ko-KR" sz="1200">
              <a:ea typeface="맑은 고딕"/>
            </a:endParaRPr>
          </a:p>
          <a:p>
            <a:r>
              <a:rPr lang="en-US" altLang="ko-KR" sz="1200" b="1">
                <a:ea typeface="맑은 고딕"/>
              </a:rPr>
              <a:t>HW, SW </a:t>
            </a:r>
            <a:r>
              <a:rPr lang="en-US" altLang="ko-KR" sz="1200" b="1" err="1">
                <a:ea typeface="맑은 고딕"/>
              </a:rPr>
              <a:t>통합</a:t>
            </a:r>
            <a:r>
              <a:rPr lang="en-US" altLang="ko-KR" sz="1200" b="1">
                <a:ea typeface="맑은 고딕"/>
              </a:rPr>
              <a:t> </a:t>
            </a:r>
            <a:r>
              <a:rPr lang="en-US" altLang="ko-KR" sz="1200" b="1" err="1">
                <a:ea typeface="맑은 고딕"/>
              </a:rPr>
              <a:t>인프라</a:t>
            </a:r>
            <a:r>
              <a:rPr lang="en-US" altLang="ko-KR" sz="1200" b="1">
                <a:ea typeface="맑은 고딕"/>
              </a:rPr>
              <a:t> </a:t>
            </a:r>
            <a:r>
              <a:rPr lang="en-US" altLang="ko-KR" sz="1200" b="1" err="1">
                <a:ea typeface="맑은 고딕"/>
              </a:rPr>
              <a:t>구축</a:t>
            </a:r>
            <a:r>
              <a:rPr lang="en-US" altLang="ko-KR" sz="1200" b="1">
                <a:ea typeface="맑은 고딕"/>
              </a:rPr>
              <a:t> : </a:t>
            </a:r>
            <a:r>
              <a:rPr lang="en-US" altLang="ko-KR" sz="1200">
                <a:ea typeface="맑은 고딕"/>
              </a:rPr>
              <a:t>AI, </a:t>
            </a:r>
            <a:r>
              <a:rPr lang="en-US" altLang="ko-KR" sz="1200" err="1">
                <a:ea typeface="맑은 고딕"/>
              </a:rPr>
              <a:t>클라우드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서비스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등이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NVIDIA환경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위에서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구축되도록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통합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솔루션</a:t>
            </a:r>
            <a:r>
              <a:rPr lang="en-US" altLang="ko-KR" sz="1200">
                <a:ea typeface="맑은 고딕"/>
              </a:rPr>
              <a:t> </a:t>
            </a:r>
            <a:r>
              <a:rPr lang="en-US" altLang="ko-KR" sz="1200" err="1">
                <a:ea typeface="맑은 고딕"/>
              </a:rPr>
              <a:t>설계</a:t>
            </a:r>
            <a:endParaRPr lang="en-US" altLang="ko-KR" sz="1200">
              <a:ea typeface="맑은 고딕"/>
            </a:endParaRPr>
          </a:p>
          <a:p>
            <a:endParaRPr lang="en-US" altLang="ko-KR" sz="1200"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A65864-CBF6-8D07-412C-992363770DA6}"/>
              </a:ext>
            </a:extLst>
          </p:cNvPr>
          <p:cNvSpPr txBox="1"/>
          <p:nvPr/>
        </p:nvSpPr>
        <p:spPr>
          <a:xfrm>
            <a:off x="418380" y="1517074"/>
            <a:ext cx="1793059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200" b="0" i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​</a:t>
            </a:r>
            <a:r>
              <a:rPr lang="en-US" sz="1200" b="1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TSMC</a:t>
            </a:r>
            <a:r>
              <a:rPr lang="en-US" sz="120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:  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파트너십으로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최첨단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반도체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공정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기술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  <a:ea typeface="맑은 고딕"/>
                <a:cs typeface="맑은 고딕"/>
              </a:rPr>
              <a:t>확보</a:t>
            </a:r>
            <a:endParaRPr lang="en-US" sz="1200" b="0" i="0" u="none" strike="noStrike" baseline="0">
              <a:solidFill>
                <a:srgbClr val="000000"/>
              </a:solidFill>
              <a:latin typeface="Aptos"/>
              <a:ea typeface="맑은 고딕"/>
              <a:cs typeface="맑은 고딕"/>
            </a:endParaRPr>
          </a:p>
          <a:p>
            <a:endParaRPr lang="en-US" sz="1200">
              <a:ea typeface="맑은 고딕"/>
            </a:endParaRPr>
          </a:p>
          <a:p>
            <a:r>
              <a:rPr lang="en-US" sz="1200" b="1">
                <a:ea typeface="맑은 고딕"/>
              </a:rPr>
              <a:t>SK </a:t>
            </a:r>
            <a:r>
              <a:rPr lang="en-US" sz="1200" b="1" err="1">
                <a:ea typeface="맑은 고딕"/>
              </a:rPr>
              <a:t>hynix</a:t>
            </a:r>
            <a:r>
              <a:rPr lang="en-US" sz="1200">
                <a:ea typeface="맑은 고딕"/>
              </a:rPr>
              <a:t> : </a:t>
            </a:r>
            <a:r>
              <a:rPr lang="ko-KR" altLang="en-US" sz="1200" err="1">
                <a:ea typeface="맑은 고딕"/>
              </a:rPr>
              <a:t>고대역폭</a:t>
            </a:r>
            <a:r>
              <a:rPr lang="en-US" sz="1200">
                <a:ea typeface="맑은 고딕"/>
              </a:rPr>
              <a:t> </a:t>
            </a:r>
            <a:r>
              <a:rPr lang="ko-KR" altLang="en-US" sz="1200">
                <a:ea typeface="맑은 고딕"/>
              </a:rPr>
              <a:t>메모리</a:t>
            </a:r>
            <a:r>
              <a:rPr lang="en-US" sz="1200">
                <a:ea typeface="맑은 고딕"/>
              </a:rPr>
              <a:t>(HBM) </a:t>
            </a:r>
            <a:r>
              <a:rPr lang="ko-KR" altLang="en-US" sz="1200">
                <a:ea typeface="맑은 고딕"/>
              </a:rPr>
              <a:t>제공</a:t>
            </a:r>
          </a:p>
          <a:p>
            <a:endParaRPr lang="ko-KR" altLang="en-US" sz="1200">
              <a:ea typeface="맑은 고딕"/>
            </a:endParaRPr>
          </a:p>
          <a:p>
            <a:r>
              <a:rPr lang="ko-KR" altLang="en-US" sz="1200" b="1">
                <a:ea typeface="맑은 고딕"/>
              </a:rPr>
              <a:t>삼성전자 </a:t>
            </a:r>
            <a:r>
              <a:rPr lang="ko-KR" altLang="en-US" sz="1200">
                <a:ea typeface="맑은 고딕"/>
              </a:rPr>
              <a:t>: DRAM 제공</a:t>
            </a:r>
          </a:p>
          <a:p>
            <a:endParaRPr lang="ko-KR" altLang="en-US" sz="1200">
              <a:ea typeface="맑은 고딕"/>
            </a:endParaRPr>
          </a:p>
          <a:p>
            <a:r>
              <a:rPr lang="ko-KR" altLang="en-US" sz="1200" b="1">
                <a:ea typeface="맑은 고딕"/>
              </a:rPr>
              <a:t>MSI, Gigabyte, ASUS</a:t>
            </a:r>
            <a:r>
              <a:rPr lang="ko-KR" altLang="en-US" sz="1200">
                <a:ea typeface="맑은 고딕"/>
              </a:rPr>
              <a:t> : 그래픽 카드 완제품 제조, 판매</a:t>
            </a:r>
          </a:p>
          <a:p>
            <a:endParaRPr lang="ko-KR" altLang="en-US" sz="1200">
              <a:ea typeface="맑은 고딕"/>
            </a:endParaRPr>
          </a:p>
          <a:p>
            <a:r>
              <a:rPr lang="ko-KR" altLang="en-US" sz="1200" b="1">
                <a:ea typeface="맑은 고딕"/>
              </a:rPr>
              <a:t>Open AI</a:t>
            </a:r>
            <a:r>
              <a:rPr lang="ko-KR" altLang="en-US" sz="1200">
                <a:ea typeface="맑은 고딕"/>
              </a:rPr>
              <a:t> : 투자, AI 인프라 구축(데이터 센터), NVIDIA 칩 활용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BEC6A6-4A69-59C8-F454-A30B67B2EE85}"/>
              </a:ext>
            </a:extLst>
          </p:cNvPr>
          <p:cNvSpPr txBox="1"/>
          <p:nvPr/>
        </p:nvSpPr>
        <p:spPr>
          <a:xfrm>
            <a:off x="447181" y="5210880"/>
            <a:ext cx="44556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 b="1">
                <a:latin typeface="Malgun Gothic"/>
                <a:ea typeface="Malgun Gothic"/>
                <a:cs typeface="+mn-lt"/>
              </a:rPr>
              <a:t>구매 약정</a:t>
            </a:r>
            <a:r>
              <a:rPr lang="ko-KR" altLang="en-US" sz="1200" b="1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b="1">
                <a:latin typeface="Malgun Gothic"/>
                <a:ea typeface="Malgun Gothic"/>
                <a:cs typeface="+mn-lt"/>
              </a:rPr>
              <a:t>:</a:t>
            </a:r>
            <a:r>
              <a:rPr lang="ko-KR" sz="120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파운드리</a:t>
            </a:r>
            <a:r>
              <a:rPr lang="ko-KR" sz="1200">
                <a:latin typeface="Malgun Gothic"/>
                <a:ea typeface="Malgun Gothic"/>
                <a:cs typeface="+mn-lt"/>
              </a:rPr>
              <a:t> 생산 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라인</a:t>
            </a:r>
            <a:r>
              <a:rPr lang="ko-KR" sz="1200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200">
                <a:latin typeface="Malgun Gothic"/>
                <a:ea typeface="Malgun Gothic"/>
                <a:cs typeface="+mn-lt"/>
              </a:rPr>
              <a:t>확보</a:t>
            </a:r>
            <a:endParaRPr lang="ko-KR" altLang="en-US" sz="1200">
              <a:latin typeface="Malgun Gothic"/>
              <a:ea typeface="Malgun Gothic"/>
            </a:endParaRPr>
          </a:p>
          <a:p>
            <a:endParaRPr lang="ko-KR" altLang="en-US" sz="1200">
              <a:latin typeface="Malgun Gothic"/>
              <a:ea typeface="Malgun Gothic"/>
            </a:endParaRPr>
          </a:p>
          <a:p>
            <a:r>
              <a:rPr lang="ko-KR" altLang="en-US" sz="1200" b="1">
                <a:latin typeface="Malgun Gothic"/>
                <a:ea typeface="Malgun Gothic"/>
              </a:rPr>
              <a:t>라이선스</a:t>
            </a:r>
            <a:r>
              <a:rPr lang="ko-KR" altLang="en-US" sz="1200">
                <a:latin typeface="Malgun Gothic"/>
                <a:ea typeface="Malgun Gothic"/>
              </a:rPr>
              <a:t> :반도체 설계 시뮬레이션 툴 라이선스 비용</a:t>
            </a:r>
          </a:p>
          <a:p>
            <a:endParaRPr lang="ko-KR" altLang="en-US" sz="1200">
              <a:latin typeface="Malgun Gothic"/>
              <a:ea typeface="Malgun Gothic"/>
            </a:endParaRPr>
          </a:p>
          <a:p>
            <a:r>
              <a:rPr lang="ko-KR" sz="1200" b="1">
                <a:latin typeface="Malgun Gothic"/>
                <a:ea typeface="Malgun Gothic"/>
                <a:cs typeface="+mn-lt"/>
              </a:rPr>
              <a:t>소프트웨어 유지보수:</a:t>
            </a:r>
            <a:r>
              <a:rPr lang="ko-KR" sz="1200">
                <a:latin typeface="Malgun Gothic"/>
                <a:ea typeface="Malgun Gothic"/>
                <a:cs typeface="+mn-lt"/>
              </a:rPr>
              <a:t> CUDA 플랫폼과 각종 라이브러리를 최신 상태로 유지하고 보안 패치를 제공</a:t>
            </a:r>
            <a:endParaRPr lang="ko-KR" sz="1200">
              <a:latin typeface="Malgun Gothic"/>
              <a:ea typeface="Malgun Gothic"/>
            </a:endParaRPr>
          </a:p>
          <a:p>
            <a:endParaRPr lang="ko-KR" altLang="en-US" sz="1200">
              <a:latin typeface="Malgun Gothic"/>
              <a:ea typeface="Malgun Gothic"/>
            </a:endParaRPr>
          </a:p>
          <a:p>
            <a:endParaRPr lang="ko-KR" altLang="en-US" sz="120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4795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06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271E4634DAD7B4BB5D8EF4FE14F1CA5" ma:contentTypeVersion="7" ma:contentTypeDescription="새 문서를 만듭니다." ma:contentTypeScope="" ma:versionID="6ef6396535d2350af39699721b7cc562">
  <xsd:schema xmlns:xsd="http://www.w3.org/2001/XMLSchema" xmlns:xs="http://www.w3.org/2001/XMLSchema" xmlns:p="http://schemas.microsoft.com/office/2006/metadata/properties" xmlns:ns2="048cfe9f-3844-438f-921b-e7acfbc162a5" targetNamespace="http://schemas.microsoft.com/office/2006/metadata/properties" ma:root="true" ma:fieldsID="37ffb8b440d1a59c992ea28757629f5b" ns2:_="">
    <xsd:import namespace="048cfe9f-3844-438f-921b-e7acfbc16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cfe9f-3844-438f-921b-e7acfbc16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FDC314-1649-4961-81A8-5449C988D6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36A014-44CE-4532-A978-3B53B829A70D}">
  <ds:schemaRefs>
    <ds:schemaRef ds:uri="048cfe9f-3844-438f-921b-e7acfbc16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806EC1-3AF0-475E-8ADE-4F44B84B4081}">
  <ds:schemaRefs>
    <ds:schemaRef ds:uri="048cfe9f-3844-438f-921b-e7acfbc162a5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1878</Words>
  <Application>Microsoft Office PowerPoint</Application>
  <PresentationFormat>A4 용지(210x297mm)</PresentationFormat>
  <Paragraphs>415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Calibri,Sans-Serif</vt:lpstr>
      <vt:lpstr>Google Sans Text</vt:lpstr>
      <vt:lpstr>LG Smart UI Bold</vt:lpstr>
      <vt:lpstr>NanumSquare Neo OTF Regular</vt:lpstr>
      <vt:lpstr>맑은 고딕</vt:lpstr>
      <vt:lpstr>맑은 고딕</vt:lpstr>
      <vt:lpstr>Aptos</vt:lpstr>
      <vt:lpstr>Aptos Display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이정환/운영프로젝트</dc:creator>
  <cp:lastModifiedBy>6131_조소현</cp:lastModifiedBy>
  <cp:revision>2</cp:revision>
  <dcterms:created xsi:type="dcterms:W3CDTF">2025-10-14T00:14:31Z</dcterms:created>
  <dcterms:modified xsi:type="dcterms:W3CDTF">2026-04-24T08:26:40Z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0x010100E271E4634DAD7B4BB5D8EF4FE14F1CA5</vt:lpwstr>
  </property>
</Properties>
</file>